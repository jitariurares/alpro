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0E506-F2F1-4090-0D32-27F9A79CF3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7734B40-6B1C-9371-2AC1-757EFE4A31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DA5E6D-39E0-35F7-51E1-437CB3C7D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2E33B-06B2-DE00-1B02-E34D219867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D49614-7994-D17F-A42B-A0D2E8BD0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79023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44DDA8-BADA-BD51-DE7E-0847C0516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8B986-930F-EE72-A10F-D975FDDA4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D86FE0-DFC7-7FA1-3601-7D5B7C843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5243C6-AC4E-94D8-1B79-744FD22FC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12AD6C-F9D2-4305-9828-768B8D0AA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136377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F98B6-4CBA-275D-084A-60F9AC4BE2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DA0407-E11C-03E0-162E-364942CD8D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C086A1-017E-D69C-EC5B-95168A486B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2A9E2B5-B681-A1C5-52AE-FBD4C9B1D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023FF9-0804-8AFB-2C47-6E785C5FED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497002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013CB9-B33A-540C-9A45-66E691DD7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3D054D-7E48-544E-4C3F-63CBC52EF1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B88D16-CDCC-1312-9267-EFD93233A0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5060851-4C6D-DBBA-AD69-C5CA7D41BC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B668E9-0B0A-7F17-B85D-8C0A1C622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1E7358-8DDA-2098-9EA4-9A8D56E4F1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691707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10A17-8799-1196-C8F5-2939CEB75D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CAC482-FA32-6CC8-12EA-7CEF41AABD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9A13505-61AC-B2C1-1527-5F7590A86D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6C136FF-95DE-E1DD-D783-1B7A3555E39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235168C-99FE-B056-74B1-DE0E66B156A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BB36810-B2B6-133A-1AA9-E5C1DCC91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25F888-11B4-7E1D-EDE5-A6F327B7D9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3E1CF5-08C2-1BA2-AAFB-8169B397C7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09490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09A489-D1F8-8346-C6FB-4AEE1F9534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4A5BD4-57FF-7C36-2952-87F873A18C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3AD00E-C7BC-19EA-30C0-6BB1C0402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0D6556-A1A3-21E2-AABC-33A6FB6F9C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933384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291F59-FD39-5318-ED45-CD83782A9A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5FF5F9D-39CB-188F-6ED4-E851E92C84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DB528F-7C8E-E8AC-AA74-06939AE50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65400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D7A428-C178-059B-AD01-421E4EC755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3308AA-56DE-8331-1327-97A8518152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0EA409-A103-64C6-59DD-EEB01A94DB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34C8006-C30B-AA80-A3F1-4C56CD93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422C9E-4BAC-7A72-F517-CE676A139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819CCBD-84CA-23CB-3691-794DE94FB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65812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5E5E-34EA-7ADE-F04A-9B27D155F7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B7A07D3-585D-82EC-5109-5325F363CE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346201-E36A-2ABC-1BAF-3E5D9293CE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E2D76FB-1EBD-BAA3-2EB7-9D6ACC30EB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5FD196-0268-D610-A1A8-3ADA28EA6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F96062-4841-CE0C-E11A-D269957FF4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235226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9C3C77-07B6-9C3D-A98A-01461C6F7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5D17A7-0AAB-185F-98AC-1B32D46D94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6AAB71-5854-E61B-EDD6-06F5883FEB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5158DF-2F32-F241-6F4C-348C9B3EA5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09FD1-E9BD-5818-B891-5D6BF8D87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7637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949039-81D4-E41E-7EBE-9B5E7D3AE2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B51729-4F27-A109-331F-73A533918F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4EAC09-5F0E-815E-8014-ED11A27F14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B218C-4C78-9C31-C57D-AC7B3F847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96528-0B59-B5D3-3BF3-776941B216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758226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FB52E4-7C70-6691-510D-28D4E8E476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3704FF-3018-B57D-117C-B146D8090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243E51-BA67-4538-5DDE-F2FCB84B0D9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2B59BE-2908-46D1-92B3-17DBA67C5A46}" type="datetimeFigureOut">
              <a:rPr lang="en-GB" smtClean="0"/>
              <a:t>01/07/2026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47E640-410A-B0A2-FF9D-E1D4493075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18BF9-44F8-399A-C1F9-15D0DD4A8E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C160E-914B-47C2-9F47-E746BC2F9E0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01680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11F17AC-108A-E610-10ED-169B7C3213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A1C2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BE6FACD-D5DD-C100-E2E1-5BEE08005787}"/>
              </a:ext>
            </a:extLst>
          </p:cNvPr>
          <p:cNvSpPr/>
          <p:nvPr/>
        </p:nvSpPr>
        <p:spPr>
          <a:xfrm>
            <a:off x="0" y="0"/>
            <a:ext cx="12192000" cy="127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FF25CD-5A47-D16D-A391-F3DEF3BAAAE8}"/>
              </a:ext>
            </a:extLst>
          </p:cNvPr>
          <p:cNvSpPr txBox="1"/>
          <p:nvPr/>
        </p:nvSpPr>
        <p:spPr>
          <a:xfrm>
            <a:off x="889000" y="1397000"/>
            <a:ext cx="9144000" cy="9233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5400" b="1">
                <a:solidFill>
                  <a:srgbClr val="FFFFFF"/>
                </a:solidFill>
                <a:latin typeface="Aptos Display" panose="020B0004020202020204" pitchFamily="34" charset="0"/>
              </a:rPr>
              <a:t>ALPRo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17E6EF5-FF61-B2D2-392C-FCD7E68A42EC}"/>
              </a:ext>
            </a:extLst>
          </p:cNvPr>
          <p:cNvSpPr txBox="1"/>
          <p:nvPr/>
        </p:nvSpPr>
        <p:spPr>
          <a:xfrm>
            <a:off x="939800" y="2489200"/>
            <a:ext cx="9144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200">
                <a:solidFill>
                  <a:srgbClr val="D2E4EE"/>
                </a:solidFill>
                <a:latin typeface="Aptos" panose="020B0004020202020204" pitchFamily="34" charset="0"/>
              </a:rPr>
              <a:t>A Machine Learning-Based ALPR Platform for Romanian Traffic Services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8202344-95D5-A93F-B89E-2C49FA02BDD8}"/>
              </a:ext>
            </a:extLst>
          </p:cNvPr>
          <p:cNvSpPr txBox="1"/>
          <p:nvPr/>
        </p:nvSpPr>
        <p:spPr>
          <a:xfrm>
            <a:off x="965200" y="4978400"/>
            <a:ext cx="7112000" cy="69249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00">
                <a:solidFill>
                  <a:srgbClr val="DCE8F0"/>
                </a:solidFill>
                <a:latin typeface="Aptos" panose="020B0004020202020204" pitchFamily="34" charset="0"/>
              </a:rPr>
              <a:t>Rareș-Ștefan Jitariu
Supervisor: Assoc. Prof. PhD Sanda-Maria AVRAM
Bachelor Thesis - 2026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DDDA08E-8D73-65D3-2666-E88DD18954D0}"/>
              </a:ext>
            </a:extLst>
          </p:cNvPr>
          <p:cNvSpPr txBox="1"/>
          <p:nvPr/>
        </p:nvSpPr>
        <p:spPr>
          <a:xfrm>
            <a:off x="8191500" y="1574800"/>
            <a:ext cx="2921000" cy="78483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1500">
                <a:solidFill>
                  <a:srgbClr val="D2E4EE"/>
                </a:solidFill>
                <a:latin typeface="Aptos" panose="020B0004020202020204" pitchFamily="34" charset="0"/>
              </a:rPr>
              <a:t>Computer Vision
Traffic Workflows
AI Assistance</a:t>
            </a:r>
          </a:p>
        </p:txBody>
      </p:sp>
    </p:spTree>
    <p:extLst>
      <p:ext uri="{BB962C8B-B14F-4D97-AF65-F5344CB8AC3E}">
        <p14:creationId xmlns:p14="http://schemas.microsoft.com/office/powerpoint/2010/main" val="5363813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31800"/>
            <a:ext cx="1041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21E2A"/>
                </a:solidFill>
                <a:latin typeface="Aptos"/>
              </a:rPr>
              <a:t>Problem and Motivation</a:t>
            </a:r>
            <a:endParaRPr lang="en-US" sz="2500"/>
          </a:p>
        </p:txBody>
      </p:sp>
      <p:sp>
        <p:nvSpPr>
          <p:cNvPr id="5" name="subtitle"/>
          <p:cNvSpPr txBox="1"/>
          <p:nvPr/>
        </p:nvSpPr>
        <p:spPr>
          <a:xfrm>
            <a:off x="685800" y="1041400"/>
            <a:ext cx="1003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E6378"/>
                </a:solidFill>
                <a:latin typeface="Aptos"/>
              </a:rPr>
              <a:t>Traffic services need workflow-ready vehicle data, not raw OCR strings.</a:t>
            </a:r>
            <a:endParaRPr lang="en-US" sz="1200"/>
          </a:p>
        </p:txBody>
      </p:sp>
      <p:sp>
        <p:nvSpPr>
          <p:cNvPr id="6" name="card shadow"/>
          <p:cNvSpPr/>
          <p:nvPr/>
        </p:nvSpPr>
        <p:spPr>
          <a:xfrm>
            <a:off x="762000" y="1866900"/>
            <a:ext cx="3175000" cy="1676400"/>
          </a:xfrm>
          <a:prstGeom prst="round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card"/>
          <p:cNvSpPr/>
          <p:nvPr/>
        </p:nvSpPr>
        <p:spPr>
          <a:xfrm>
            <a:off x="711200" y="1803400"/>
            <a:ext cx="3175000" cy="1676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accent"/>
          <p:cNvSpPr/>
          <p:nvPr/>
        </p:nvSpPr>
        <p:spPr>
          <a:xfrm>
            <a:off x="711200" y="1803400"/>
            <a:ext cx="76200" cy="16764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card title"/>
          <p:cNvSpPr txBox="1"/>
          <p:nvPr/>
        </p:nvSpPr>
        <p:spPr>
          <a:xfrm>
            <a:off x="1066800" y="2108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121E2A"/>
                </a:solidFill>
                <a:latin typeface="Aptos"/>
              </a:rPr>
              <a:t>Manual checks are slow</a:t>
            </a:r>
            <a:endParaRPr lang="en-US" sz="1400"/>
          </a:p>
        </p:txBody>
      </p:sp>
      <p:sp>
        <p:nvSpPr>
          <p:cNvPr id="10" name="card body"/>
          <p:cNvSpPr txBox="1"/>
          <p:nvPr/>
        </p:nvSpPr>
        <p:spPr>
          <a:xfrm>
            <a:off x="1066800" y="2590800"/>
            <a:ext cx="256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E6378"/>
                </a:solidFill>
                <a:latin typeface="Aptos"/>
              </a:rPr>
              <a:t>Police, parking and insurance workflows rely on fast plate-based lookup.</a:t>
            </a:r>
            <a:endParaRPr lang="en-US" sz="1100"/>
          </a:p>
        </p:txBody>
      </p:sp>
      <p:sp>
        <p:nvSpPr>
          <p:cNvPr id="11" name="card shadow"/>
          <p:cNvSpPr/>
          <p:nvPr/>
        </p:nvSpPr>
        <p:spPr>
          <a:xfrm>
            <a:off x="4572000" y="1866900"/>
            <a:ext cx="3175000" cy="1676400"/>
          </a:xfrm>
          <a:prstGeom prst="round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2" name="card"/>
          <p:cNvSpPr/>
          <p:nvPr/>
        </p:nvSpPr>
        <p:spPr>
          <a:xfrm>
            <a:off x="4521200" y="1803400"/>
            <a:ext cx="3175000" cy="1676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3" name="accent"/>
          <p:cNvSpPr/>
          <p:nvPr/>
        </p:nvSpPr>
        <p:spPr>
          <a:xfrm>
            <a:off x="4521200" y="1803400"/>
            <a:ext cx="76200" cy="1676400"/>
          </a:xfrm>
          <a:prstGeom prst="rect">
            <a:avLst/>
          </a:prstGeom>
          <a:solidFill>
            <a:srgbClr val="20BBD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card title"/>
          <p:cNvSpPr txBox="1"/>
          <p:nvPr/>
        </p:nvSpPr>
        <p:spPr>
          <a:xfrm>
            <a:off x="4876800" y="2108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121E2A"/>
                </a:solidFill>
                <a:latin typeface="Aptos"/>
              </a:rPr>
              <a:t>Raw OCR is uncertain</a:t>
            </a:r>
            <a:endParaRPr lang="en-US" sz="1400"/>
          </a:p>
        </p:txBody>
      </p:sp>
      <p:sp>
        <p:nvSpPr>
          <p:cNvPr id="15" name="card body"/>
          <p:cNvSpPr txBox="1"/>
          <p:nvPr/>
        </p:nvSpPr>
        <p:spPr>
          <a:xfrm>
            <a:off x="4876800" y="2590800"/>
            <a:ext cx="256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E6378"/>
                </a:solidFill>
                <a:latin typeface="Aptos"/>
              </a:rPr>
              <a:t>A model can return plausible text, but that text still needs application handling.</a:t>
            </a:r>
            <a:endParaRPr lang="en-US" sz="1100"/>
          </a:p>
        </p:txBody>
      </p:sp>
      <p:sp>
        <p:nvSpPr>
          <p:cNvPr id="16" name="card shadow"/>
          <p:cNvSpPr/>
          <p:nvPr/>
        </p:nvSpPr>
        <p:spPr>
          <a:xfrm>
            <a:off x="8382000" y="1866900"/>
            <a:ext cx="3175000" cy="1676400"/>
          </a:xfrm>
          <a:prstGeom prst="round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7" name="card"/>
          <p:cNvSpPr/>
          <p:nvPr/>
        </p:nvSpPr>
        <p:spPr>
          <a:xfrm>
            <a:off x="8331200" y="1803400"/>
            <a:ext cx="3175000" cy="16764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18" name="accent"/>
          <p:cNvSpPr/>
          <p:nvPr/>
        </p:nvSpPr>
        <p:spPr>
          <a:xfrm>
            <a:off x="8331200" y="1803400"/>
            <a:ext cx="76200" cy="1676400"/>
          </a:xfrm>
          <a:prstGeom prst="rect">
            <a:avLst/>
          </a:prstGeom>
          <a:solidFill>
            <a:srgbClr val="2EB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9" name="card title"/>
          <p:cNvSpPr txBox="1"/>
          <p:nvPr/>
        </p:nvSpPr>
        <p:spPr>
          <a:xfrm>
            <a:off x="8686800" y="2108200"/>
            <a:ext cx="25654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400" b="1">
                <a:solidFill>
                  <a:srgbClr val="121E2A"/>
                </a:solidFill>
                <a:latin typeface="Aptos"/>
              </a:rPr>
              <a:t>Records must connect</a:t>
            </a:r>
            <a:endParaRPr lang="en-US" sz="1400"/>
          </a:p>
        </p:txBody>
      </p:sp>
      <p:sp>
        <p:nvSpPr>
          <p:cNvPr id="20" name="card body"/>
          <p:cNvSpPr txBox="1"/>
          <p:nvPr/>
        </p:nvSpPr>
        <p:spPr>
          <a:xfrm>
            <a:off x="8686800" y="2590800"/>
            <a:ext cx="2565400" cy="660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>
                <a:solidFill>
                  <a:srgbClr val="4E6378"/>
                </a:solidFill>
                <a:latin typeface="Aptos"/>
              </a:rPr>
              <a:t>Detections become useful only when linked with cases, parking, insurance and audit.</a:t>
            </a:r>
            <a:endParaRPr lang="en-US" sz="1100"/>
          </a:p>
        </p:txBody>
      </p:sp>
      <p:sp>
        <p:nvSpPr>
          <p:cNvPr id="21" name="path label"/>
          <p:cNvSpPr txBox="1"/>
          <p:nvPr/>
        </p:nvSpPr>
        <p:spPr>
          <a:xfrm>
            <a:off x="1219200" y="41656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 b="1">
                <a:solidFill>
                  <a:srgbClr val="4E6378"/>
                </a:solidFill>
                <a:latin typeface="Aptos"/>
              </a:rPr>
              <a:t>Operational path</a:t>
            </a:r>
            <a:endParaRPr lang="en-US" sz="1300"/>
          </a:p>
        </p:txBody>
      </p:sp>
      <p:sp>
        <p:nvSpPr>
          <p:cNvPr id="22" name="timeline line"/>
          <p:cNvSpPr/>
          <p:nvPr/>
        </p:nvSpPr>
        <p:spPr>
          <a:xfrm>
            <a:off x="2108200" y="4864100"/>
            <a:ext cx="7975600" cy="25400"/>
          </a:xfrm>
          <a:prstGeom prst="rect">
            <a:avLst/>
          </a:prstGeom>
          <a:solidFill>
            <a:srgbClr val="C8D8E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3" name="step card"/>
          <p:cNvSpPr/>
          <p:nvPr/>
        </p:nvSpPr>
        <p:spPr>
          <a:xfrm>
            <a:off x="130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4" name="step badge"/>
          <p:cNvSpPr/>
          <p:nvPr/>
        </p:nvSpPr>
        <p:spPr>
          <a:xfrm>
            <a:off x="1485900" y="4711700"/>
            <a:ext cx="330200" cy="330200"/>
          </a:xfrm>
          <a:prstGeom prst="ellipse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5" name="badge text"/>
          <p:cNvSpPr txBox="1"/>
          <p:nvPr/>
        </p:nvSpPr>
        <p:spPr>
          <a:xfrm>
            <a:off x="148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01</a:t>
            </a:r>
            <a:endParaRPr lang="en-US" sz="800"/>
          </a:p>
        </p:txBody>
      </p:sp>
      <p:sp>
        <p:nvSpPr>
          <p:cNvPr id="26" name="step title"/>
          <p:cNvSpPr txBox="1"/>
          <p:nvPr/>
        </p:nvSpPr>
        <p:spPr>
          <a:xfrm>
            <a:off x="194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Vehicle image</a:t>
            </a:r>
            <a:endParaRPr lang="en-US" sz="1100"/>
          </a:p>
        </p:txBody>
      </p:sp>
      <p:sp>
        <p:nvSpPr>
          <p:cNvPr id="27" name="step sub"/>
          <p:cNvSpPr txBox="1"/>
          <p:nvPr/>
        </p:nvSpPr>
        <p:spPr>
          <a:xfrm>
            <a:off x="194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visual input</a:t>
            </a:r>
            <a:endParaRPr lang="en-US" sz="900"/>
          </a:p>
        </p:txBody>
      </p:sp>
      <p:sp>
        <p:nvSpPr>
          <p:cNvPr id="28" name="step card"/>
          <p:cNvSpPr/>
          <p:nvPr/>
        </p:nvSpPr>
        <p:spPr>
          <a:xfrm>
            <a:off x="384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29" name="step badge"/>
          <p:cNvSpPr/>
          <p:nvPr/>
        </p:nvSpPr>
        <p:spPr>
          <a:xfrm>
            <a:off x="4025900" y="4711700"/>
            <a:ext cx="330200" cy="330200"/>
          </a:xfrm>
          <a:prstGeom prst="ellipse">
            <a:avLst/>
          </a:prstGeom>
          <a:solidFill>
            <a:srgbClr val="20BBD3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0" name="badge text"/>
          <p:cNvSpPr txBox="1"/>
          <p:nvPr/>
        </p:nvSpPr>
        <p:spPr>
          <a:xfrm>
            <a:off x="402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02</a:t>
            </a:r>
            <a:endParaRPr lang="en-US" sz="800"/>
          </a:p>
        </p:txBody>
      </p:sp>
      <p:sp>
        <p:nvSpPr>
          <p:cNvPr id="31" name="step title"/>
          <p:cNvSpPr txBox="1"/>
          <p:nvPr/>
        </p:nvSpPr>
        <p:spPr>
          <a:xfrm>
            <a:off x="448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Plate candidate</a:t>
            </a:r>
            <a:endParaRPr lang="en-US" sz="1100"/>
          </a:p>
        </p:txBody>
      </p:sp>
      <p:sp>
        <p:nvSpPr>
          <p:cNvPr id="32" name="step sub"/>
          <p:cNvSpPr txBox="1"/>
          <p:nvPr/>
        </p:nvSpPr>
        <p:spPr>
          <a:xfrm>
            <a:off x="448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ML output</a:t>
            </a:r>
            <a:endParaRPr lang="en-US" sz="900"/>
          </a:p>
        </p:txBody>
      </p:sp>
      <p:sp>
        <p:nvSpPr>
          <p:cNvPr id="33" name="step card"/>
          <p:cNvSpPr/>
          <p:nvPr/>
        </p:nvSpPr>
        <p:spPr>
          <a:xfrm>
            <a:off x="638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4" name="step badge"/>
          <p:cNvSpPr/>
          <p:nvPr/>
        </p:nvSpPr>
        <p:spPr>
          <a:xfrm>
            <a:off x="6565900" y="4711700"/>
            <a:ext cx="330200" cy="330200"/>
          </a:xfrm>
          <a:prstGeom prst="ellipse">
            <a:avLst/>
          </a:prstGeom>
          <a:solidFill>
            <a:srgbClr val="F28C3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5" name="badge text"/>
          <p:cNvSpPr txBox="1"/>
          <p:nvPr/>
        </p:nvSpPr>
        <p:spPr>
          <a:xfrm>
            <a:off x="656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03</a:t>
            </a:r>
            <a:endParaRPr lang="en-US" sz="800"/>
          </a:p>
        </p:txBody>
      </p:sp>
      <p:sp>
        <p:nvSpPr>
          <p:cNvPr id="36" name="step title"/>
          <p:cNvSpPr txBox="1"/>
          <p:nvPr/>
        </p:nvSpPr>
        <p:spPr>
          <a:xfrm>
            <a:off x="702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Application decision</a:t>
            </a:r>
            <a:endParaRPr lang="en-US" sz="1100"/>
          </a:p>
        </p:txBody>
      </p:sp>
      <p:sp>
        <p:nvSpPr>
          <p:cNvPr id="37" name="step sub"/>
          <p:cNvSpPr txBox="1"/>
          <p:nvPr/>
        </p:nvSpPr>
        <p:spPr>
          <a:xfrm>
            <a:off x="702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backend rules</a:t>
            </a:r>
            <a:endParaRPr lang="en-US" sz="900"/>
          </a:p>
        </p:txBody>
      </p:sp>
      <p:sp>
        <p:nvSpPr>
          <p:cNvPr id="38" name="step card"/>
          <p:cNvSpPr/>
          <p:nvPr/>
        </p:nvSpPr>
        <p:spPr>
          <a:xfrm>
            <a:off x="8928100" y="4521200"/>
            <a:ext cx="1955800" cy="965200"/>
          </a:xfrm>
          <a:prstGeom prst="round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9" name="step badge"/>
          <p:cNvSpPr/>
          <p:nvPr/>
        </p:nvSpPr>
        <p:spPr>
          <a:xfrm>
            <a:off x="9105900" y="4711700"/>
            <a:ext cx="330200" cy="330200"/>
          </a:xfrm>
          <a:prstGeom prst="ellipse">
            <a:avLst/>
          </a:prstGeom>
          <a:solidFill>
            <a:srgbClr val="2EBA72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0" name="badge text"/>
          <p:cNvSpPr txBox="1"/>
          <p:nvPr/>
        </p:nvSpPr>
        <p:spPr>
          <a:xfrm>
            <a:off x="9105900" y="4775200"/>
            <a:ext cx="330200" cy="20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800" b="1">
                <a:solidFill>
                  <a:srgbClr val="FFFFFF"/>
                </a:solidFill>
                <a:latin typeface="Aptos"/>
              </a:rPr>
              <a:t>04</a:t>
            </a:r>
            <a:endParaRPr lang="en-US" sz="800"/>
          </a:p>
        </p:txBody>
      </p:sp>
      <p:sp>
        <p:nvSpPr>
          <p:cNvPr id="41" name="step title"/>
          <p:cNvSpPr txBox="1"/>
          <p:nvPr/>
        </p:nvSpPr>
        <p:spPr>
          <a:xfrm>
            <a:off x="9563100" y="4673600"/>
            <a:ext cx="1092200" cy="279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100" b="1">
                <a:solidFill>
                  <a:srgbClr val="121E2A"/>
                </a:solidFill>
                <a:latin typeface="Aptos"/>
              </a:rPr>
              <a:t>Operational record</a:t>
            </a:r>
            <a:endParaRPr lang="en-US" sz="1100"/>
          </a:p>
        </p:txBody>
      </p:sp>
      <p:sp>
        <p:nvSpPr>
          <p:cNvPr id="42" name="step sub"/>
          <p:cNvSpPr txBox="1"/>
          <p:nvPr/>
        </p:nvSpPr>
        <p:spPr>
          <a:xfrm>
            <a:off x="9563100" y="4978400"/>
            <a:ext cx="109220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900">
                <a:solidFill>
                  <a:srgbClr val="5F7183"/>
                </a:solidFill>
                <a:latin typeface="Aptos"/>
              </a:rPr>
              <a:t>workflow data</a:t>
            </a:r>
            <a:endParaRPr lang="en-US" sz="900"/>
          </a:p>
        </p:txBody>
      </p:sp>
      <p:sp>
        <p:nvSpPr>
          <p:cNvPr id="43" name="goal"/>
          <p:cNvSpPr txBox="1"/>
          <p:nvPr/>
        </p:nvSpPr>
        <p:spPr>
          <a:xfrm>
            <a:off x="1219200" y="5778500"/>
            <a:ext cx="965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300">
                <a:solidFill>
                  <a:srgbClr val="121E2A"/>
                </a:solidFill>
                <a:latin typeface="Aptos"/>
              </a:rPr>
              <a:t>Goal: turn uncertain visual input into auditable vehicle records.</a:t>
            </a:r>
            <a:endParaRPr lang="en-US" sz="1300"/>
          </a:p>
        </p:txBody>
      </p:sp>
      <p:sp>
        <p:nvSpPr>
          <p:cNvPr id="44" name="footer"/>
          <p:cNvSpPr txBox="1"/>
          <p:nvPr/>
        </p:nvSpPr>
        <p:spPr>
          <a:xfrm>
            <a:off x="508000" y="64516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E6378"/>
                </a:solidFill>
                <a:latin typeface="Aptos"/>
              </a:rPr>
              <a:t>ALPRo - Bachelor Thesis 2026</a:t>
            </a:r>
            <a:endParaRPr lang="en-US" sz="700"/>
          </a:p>
        </p:txBody>
      </p:sp>
      <p:sp>
        <p:nvSpPr>
          <p:cNvPr id="45" name="page"/>
          <p:cNvSpPr txBox="1"/>
          <p:nvPr/>
        </p:nvSpPr>
        <p:spPr>
          <a:xfrm>
            <a:off x="11430000" y="6451600"/>
            <a:ext cx="25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700">
                <a:solidFill>
                  <a:srgbClr val="4E6378"/>
                </a:solidFill>
                <a:latin typeface="Aptos"/>
              </a:rPr>
              <a:t>2</a:t>
            </a:r>
            <a:endParaRPr lang="en-US" sz="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A0EAFA5-63B3-A86F-FF45-B23B07F1507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AC660C7-2F86-1055-08DA-71BF414E2D97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E914BE-2B4B-B549-6070-DB08D51F57B2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C08B7B3-0B85-CF25-2A51-AA03D60AFB41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06C08B6-E1A5-E23D-1F6A-7ACDA4413CC2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System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E03104-9E18-9E37-5BDD-DEDEFC76AAB1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Each layer has a focused responsibility.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A12FD939-9C69-FAD5-AB0A-B18BE503DAEE}"/>
              </a:ext>
            </a:extLst>
          </p:cNvPr>
          <p:cNvSpPr/>
          <p:nvPr/>
        </p:nvSpPr>
        <p:spPr>
          <a:xfrm>
            <a:off x="762000" y="1841500"/>
            <a:ext cx="2413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21764E-3D8A-1221-A74C-A59A8FD40816}"/>
              </a:ext>
            </a:extLst>
          </p:cNvPr>
          <p:cNvSpPr/>
          <p:nvPr/>
        </p:nvSpPr>
        <p:spPr>
          <a:xfrm>
            <a:off x="762000" y="1841500"/>
            <a:ext cx="88900" cy="10414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0C2F4BD-7EB3-1FE1-EB34-720465490121}"/>
              </a:ext>
            </a:extLst>
          </p:cNvPr>
          <p:cNvSpPr txBox="1"/>
          <p:nvPr/>
        </p:nvSpPr>
        <p:spPr>
          <a:xfrm>
            <a:off x="990600" y="1993900"/>
            <a:ext cx="2032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React frontend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BB56AD9-8886-1537-B3C3-D48BDF7C27F2}"/>
              </a:ext>
            </a:extLst>
          </p:cNvPr>
          <p:cNvSpPr txBox="1"/>
          <p:nvPr/>
        </p:nvSpPr>
        <p:spPr>
          <a:xfrm>
            <a:off x="990600" y="2374900"/>
            <a:ext cx="203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Role-specific interface and workflows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1C7CBE4A-2901-37CC-EBDB-03681776B75E}"/>
              </a:ext>
            </a:extLst>
          </p:cNvPr>
          <p:cNvSpPr/>
          <p:nvPr/>
        </p:nvSpPr>
        <p:spPr>
          <a:xfrm>
            <a:off x="3937000" y="1841500"/>
            <a:ext cx="2413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6B4ED72-1F4F-F6DD-0991-BEA13141C701}"/>
              </a:ext>
            </a:extLst>
          </p:cNvPr>
          <p:cNvSpPr/>
          <p:nvPr/>
        </p:nvSpPr>
        <p:spPr>
          <a:xfrm>
            <a:off x="3937000" y="1841500"/>
            <a:ext cx="88900" cy="10414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305F704-2349-B312-DF7C-CDF2563F3227}"/>
              </a:ext>
            </a:extLst>
          </p:cNvPr>
          <p:cNvSpPr txBox="1"/>
          <p:nvPr/>
        </p:nvSpPr>
        <p:spPr>
          <a:xfrm>
            <a:off x="4165600" y="1993900"/>
            <a:ext cx="2032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Spring Boot backend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B0669C3-7D09-2DFE-BCF8-8B8AA8B25C50}"/>
              </a:ext>
            </a:extLst>
          </p:cNvPr>
          <p:cNvSpPr txBox="1"/>
          <p:nvPr/>
        </p:nvSpPr>
        <p:spPr>
          <a:xfrm>
            <a:off x="4165600" y="2374900"/>
            <a:ext cx="203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Authentication, business logic, audit and persistence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89630AD9-F146-0FC9-FA9E-1CACEF90B5EA}"/>
              </a:ext>
            </a:extLst>
          </p:cNvPr>
          <p:cNvSpPr/>
          <p:nvPr/>
        </p:nvSpPr>
        <p:spPr>
          <a:xfrm>
            <a:off x="7112000" y="1841500"/>
            <a:ext cx="2159000" cy="1041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9666E0-F218-9FC3-7290-E83C342C393C}"/>
              </a:ext>
            </a:extLst>
          </p:cNvPr>
          <p:cNvSpPr/>
          <p:nvPr/>
        </p:nvSpPr>
        <p:spPr>
          <a:xfrm>
            <a:off x="7112000" y="1841500"/>
            <a:ext cx="88900" cy="1041400"/>
          </a:xfrm>
          <a:prstGeom prst="rect">
            <a:avLst/>
          </a:prstGeom>
          <a:solidFill>
            <a:srgbClr val="F597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78C45D-1CEB-55BC-D3A4-00D6478AB704}"/>
              </a:ext>
            </a:extLst>
          </p:cNvPr>
          <p:cNvSpPr txBox="1"/>
          <p:nvPr/>
        </p:nvSpPr>
        <p:spPr>
          <a:xfrm>
            <a:off x="7340600" y="1993900"/>
            <a:ext cx="1778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PostgreSQL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77ED16C3-95AF-56B5-C855-9B0E33423659}"/>
              </a:ext>
            </a:extLst>
          </p:cNvPr>
          <p:cNvSpPr txBox="1"/>
          <p:nvPr/>
        </p:nvSpPr>
        <p:spPr>
          <a:xfrm>
            <a:off x="7340600" y="2374900"/>
            <a:ext cx="1778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Operational data storage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FFA5EE7F-3ED2-869E-E461-3FEE4CA59FDF}"/>
              </a:ext>
            </a:extLst>
          </p:cNvPr>
          <p:cNvSpPr/>
          <p:nvPr/>
        </p:nvSpPr>
        <p:spPr>
          <a:xfrm>
            <a:off x="3937000" y="3873500"/>
            <a:ext cx="2413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36AE628-C365-D426-C5A7-031EDC6C7011}"/>
              </a:ext>
            </a:extLst>
          </p:cNvPr>
          <p:cNvSpPr/>
          <p:nvPr/>
        </p:nvSpPr>
        <p:spPr>
          <a:xfrm>
            <a:off x="3937000" y="3873500"/>
            <a:ext cx="88900" cy="11176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9AEE3948-B699-9F40-0B6F-529F797E70F4}"/>
              </a:ext>
            </a:extLst>
          </p:cNvPr>
          <p:cNvSpPr txBox="1"/>
          <p:nvPr/>
        </p:nvSpPr>
        <p:spPr>
          <a:xfrm>
            <a:off x="4165600" y="4025900"/>
            <a:ext cx="2032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FastAPI ML service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B285DE4B-3910-EED4-DC00-70FF53C39AE2}"/>
              </a:ext>
            </a:extLst>
          </p:cNvPr>
          <p:cNvSpPr txBox="1"/>
          <p:nvPr/>
        </p:nvSpPr>
        <p:spPr>
          <a:xfrm>
            <a:off x="4165600" y="4406900"/>
            <a:ext cx="2032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Python inference for image and video ALPR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91C3D356-1B42-5196-7455-EE3C0EC3DF81}"/>
              </a:ext>
            </a:extLst>
          </p:cNvPr>
          <p:cNvSpPr/>
          <p:nvPr/>
        </p:nvSpPr>
        <p:spPr>
          <a:xfrm>
            <a:off x="7112000" y="3873500"/>
            <a:ext cx="2159000" cy="11176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3D6F42A-1650-C5E1-A0E0-C8B587F70C01}"/>
              </a:ext>
            </a:extLst>
          </p:cNvPr>
          <p:cNvSpPr/>
          <p:nvPr/>
        </p:nvSpPr>
        <p:spPr>
          <a:xfrm>
            <a:off x="7112000" y="3873500"/>
            <a:ext cx="88900" cy="1117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D270D26-0841-863C-B90A-20D834EF4613}"/>
              </a:ext>
            </a:extLst>
          </p:cNvPr>
          <p:cNvSpPr txBox="1"/>
          <p:nvPr/>
        </p:nvSpPr>
        <p:spPr>
          <a:xfrm>
            <a:off x="7340600" y="4025900"/>
            <a:ext cx="1778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OpenAI API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84A993B-6F88-5A13-B875-BA21423A6537}"/>
              </a:ext>
            </a:extLst>
          </p:cNvPr>
          <p:cNvSpPr txBox="1"/>
          <p:nvPr/>
        </p:nvSpPr>
        <p:spPr>
          <a:xfrm>
            <a:off x="7340600" y="4406900"/>
            <a:ext cx="1778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Copilot and vehicle attribute suggestions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AC5DAA65-DA1E-F651-98AF-57B9E3602B69}"/>
              </a:ext>
            </a:extLst>
          </p:cNvPr>
          <p:cNvCxnSpPr/>
          <p:nvPr/>
        </p:nvCxnSpPr>
        <p:spPr>
          <a:xfrm>
            <a:off x="3175000" y="2362200"/>
            <a:ext cx="7620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CB859096-8570-4B4B-0E57-6AAACF30585D}"/>
              </a:ext>
            </a:extLst>
          </p:cNvPr>
          <p:cNvCxnSpPr/>
          <p:nvPr/>
        </p:nvCxnSpPr>
        <p:spPr>
          <a:xfrm>
            <a:off x="6350000" y="2362200"/>
            <a:ext cx="7620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6880BC31-B030-1E15-7A64-3F8BC7CA2AF3}"/>
              </a:ext>
            </a:extLst>
          </p:cNvPr>
          <p:cNvCxnSpPr/>
          <p:nvPr/>
        </p:nvCxnSpPr>
        <p:spPr>
          <a:xfrm>
            <a:off x="5143500" y="2882900"/>
            <a:ext cx="0" cy="99060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2016CEB1-F374-ED85-4CCF-B5A472AC8326}"/>
              </a:ext>
            </a:extLst>
          </p:cNvPr>
          <p:cNvCxnSpPr/>
          <p:nvPr/>
        </p:nvCxnSpPr>
        <p:spPr>
          <a:xfrm>
            <a:off x="6350000" y="4419600"/>
            <a:ext cx="7620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F38F166B-74CD-9170-A681-CE3FE9E7BADE}"/>
              </a:ext>
            </a:extLst>
          </p:cNvPr>
          <p:cNvSpPr/>
          <p:nvPr/>
        </p:nvSpPr>
        <p:spPr>
          <a:xfrm>
            <a:off x="9715500" y="2476500"/>
            <a:ext cx="1841500" cy="16413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EC1B1C80-812B-69B1-63CE-C420B5467BD3}"/>
              </a:ext>
            </a:extLst>
          </p:cNvPr>
          <p:cNvSpPr/>
          <p:nvPr/>
        </p:nvSpPr>
        <p:spPr>
          <a:xfrm>
            <a:off x="9715500" y="2476500"/>
            <a:ext cx="88900" cy="14224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5AC08BB-7741-C7F9-EEA6-7350EAD956EE}"/>
              </a:ext>
            </a:extLst>
          </p:cNvPr>
          <p:cNvSpPr txBox="1"/>
          <p:nvPr/>
        </p:nvSpPr>
        <p:spPr>
          <a:xfrm>
            <a:off x="9944100" y="2628900"/>
            <a:ext cx="146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Why Python ML?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A42BCA5-9060-66C1-D961-866590CCF2CF}"/>
              </a:ext>
            </a:extLst>
          </p:cNvPr>
          <p:cNvSpPr txBox="1"/>
          <p:nvPr/>
        </p:nvSpPr>
        <p:spPr>
          <a:xfrm>
            <a:off x="9944100" y="3009900"/>
            <a:ext cx="1460500" cy="110799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YOLO, OpenCV and </a:t>
            </a:r>
            <a:r>
              <a:rPr lang="en-GB" sz="1100" dirty="0" err="1">
                <a:solidFill>
                  <a:srgbClr val="5A6C7C"/>
                </a:solidFill>
                <a:latin typeface="Aptos" panose="020B0004020202020204" pitchFamily="34" charset="0"/>
              </a:rPr>
              <a:t>PaddleOCR</a:t>
            </a:r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 fit naturally in Python; </a:t>
            </a:r>
            <a:r>
              <a:rPr lang="en-GB" sz="1100" dirty="0" err="1">
                <a:solidFill>
                  <a:srgbClr val="5A6C7C"/>
                </a:solidFill>
                <a:latin typeface="Aptos" panose="020B0004020202020204" pitchFamily="34" charset="0"/>
              </a:rPr>
              <a:t>FastAPI</a:t>
            </a:r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 exposes them as HTTP endpoints.</a:t>
            </a:r>
          </a:p>
        </p:txBody>
      </p:sp>
    </p:spTree>
    <p:extLst>
      <p:ext uri="{BB962C8B-B14F-4D97-AF65-F5344CB8AC3E}">
        <p14:creationId xmlns:p14="http://schemas.microsoft.com/office/powerpoint/2010/main" val="17210861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B33DDFB-4E0F-A2D4-E665-BA17806E36C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CDD95C-4155-8337-54E3-467DF78F9DF3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5C29053-1507-7F14-9888-9F9EDFDA4ABB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4788857-F0B5-100A-3957-A8B081D0D130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8C167AB-E1C4-13AB-FD0B-12A8F9E8FBB4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Python ML Service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537FA69-C303-8B03-2AC4-335617C29893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YOLO localizes the plate; PaddleOCR reads the cropped region.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3330EFF9-6D47-66B0-21EA-E96368197223}"/>
              </a:ext>
            </a:extLst>
          </p:cNvPr>
          <p:cNvSpPr/>
          <p:nvPr/>
        </p:nvSpPr>
        <p:spPr>
          <a:xfrm>
            <a:off x="787400" y="1968500"/>
            <a:ext cx="1587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7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596850C-2A96-17FF-16FD-E543BE64AAA5}"/>
              </a:ext>
            </a:extLst>
          </p:cNvPr>
          <p:cNvSpPr txBox="1"/>
          <p:nvPr/>
        </p:nvSpPr>
        <p:spPr>
          <a:xfrm>
            <a:off x="889000" y="2146300"/>
            <a:ext cx="1384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Image / Video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241646A-D6A7-CDA9-C388-18AAFA261A73}"/>
              </a:ext>
            </a:extLst>
          </p:cNvPr>
          <p:cNvSpPr/>
          <p:nvPr/>
        </p:nvSpPr>
        <p:spPr>
          <a:xfrm>
            <a:off x="2857500" y="1968500"/>
            <a:ext cx="1841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B8D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5226B0E-65C5-5F75-ADDD-22A8081553F9}"/>
              </a:ext>
            </a:extLst>
          </p:cNvPr>
          <p:cNvSpPr txBox="1"/>
          <p:nvPr/>
        </p:nvSpPr>
        <p:spPr>
          <a:xfrm>
            <a:off x="2959100" y="2146300"/>
            <a:ext cx="1638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YOLO detector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6BE6B95-8239-6B46-3F45-4968C7C26070}"/>
              </a:ext>
            </a:extLst>
          </p:cNvPr>
          <p:cNvSpPr/>
          <p:nvPr/>
        </p:nvSpPr>
        <p:spPr>
          <a:xfrm>
            <a:off x="5143500" y="1968500"/>
            <a:ext cx="1587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DAB7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44D4102-5889-304A-EBDA-45C5CF53BEEA}"/>
              </a:ext>
            </a:extLst>
          </p:cNvPr>
          <p:cNvSpPr txBox="1"/>
          <p:nvPr/>
        </p:nvSpPr>
        <p:spPr>
          <a:xfrm>
            <a:off x="5245100" y="2146300"/>
            <a:ext cx="1384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Plate crop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5A109DF-849C-E0E5-B17C-681A10B5007B}"/>
              </a:ext>
            </a:extLst>
          </p:cNvPr>
          <p:cNvSpPr/>
          <p:nvPr/>
        </p:nvSpPr>
        <p:spPr>
          <a:xfrm>
            <a:off x="7429500" y="1968500"/>
            <a:ext cx="15875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5974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1F004AB-4E50-BA94-26AF-72B47533275E}"/>
              </a:ext>
            </a:extLst>
          </p:cNvPr>
          <p:cNvSpPr txBox="1"/>
          <p:nvPr/>
        </p:nvSpPr>
        <p:spPr>
          <a:xfrm>
            <a:off x="7531100" y="2146300"/>
            <a:ext cx="13843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PaddleOCR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E945033A-2A99-A042-EB80-873298099DF3}"/>
              </a:ext>
            </a:extLst>
          </p:cNvPr>
          <p:cNvSpPr/>
          <p:nvPr/>
        </p:nvSpPr>
        <p:spPr>
          <a:xfrm>
            <a:off x="9715500" y="1968500"/>
            <a:ext cx="1524000" cy="685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675B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A74A6BB-AE91-F1F0-80FA-4371E1DF91BF}"/>
              </a:ext>
            </a:extLst>
          </p:cNvPr>
          <p:cNvSpPr txBox="1"/>
          <p:nvPr/>
        </p:nvSpPr>
        <p:spPr>
          <a:xfrm>
            <a:off x="9817100" y="2146300"/>
            <a:ext cx="1320800" cy="276999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1200" b="1">
                <a:solidFill>
                  <a:srgbClr val="142432"/>
                </a:solidFill>
                <a:latin typeface="Aptos" panose="020B0004020202020204" pitchFamily="34" charset="0"/>
              </a:rPr>
              <a:t>JSON result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BDEA11B1-2CD5-2F86-6571-A0B139A6274D}"/>
              </a:ext>
            </a:extLst>
          </p:cNvPr>
          <p:cNvCxnSpPr/>
          <p:nvPr/>
        </p:nvCxnSpPr>
        <p:spPr>
          <a:xfrm>
            <a:off x="2374900" y="2311400"/>
            <a:ext cx="4826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0D19BB96-8A2F-C0C1-D45B-085CB6785FC8}"/>
              </a:ext>
            </a:extLst>
          </p:cNvPr>
          <p:cNvCxnSpPr/>
          <p:nvPr/>
        </p:nvCxnSpPr>
        <p:spPr>
          <a:xfrm>
            <a:off x="4699000" y="2311400"/>
            <a:ext cx="4445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2DDB3B74-9497-1F22-9CE3-2AE289EE3595}"/>
              </a:ext>
            </a:extLst>
          </p:cNvPr>
          <p:cNvCxnSpPr/>
          <p:nvPr/>
        </p:nvCxnSpPr>
        <p:spPr>
          <a:xfrm>
            <a:off x="6731000" y="2311400"/>
            <a:ext cx="6985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02DDF37-D7DF-FA02-E199-28DFE66DE8C2}"/>
              </a:ext>
            </a:extLst>
          </p:cNvPr>
          <p:cNvCxnSpPr/>
          <p:nvPr/>
        </p:nvCxnSpPr>
        <p:spPr>
          <a:xfrm>
            <a:off x="9017000" y="2311400"/>
            <a:ext cx="6985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5E50F996-B12A-0622-4B01-A62842180552}"/>
              </a:ext>
            </a:extLst>
          </p:cNvPr>
          <p:cNvSpPr/>
          <p:nvPr/>
        </p:nvSpPr>
        <p:spPr>
          <a:xfrm>
            <a:off x="914400" y="3619500"/>
            <a:ext cx="3302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DC13FCD-3FF3-23F8-7DD1-AD8D11B971D6}"/>
              </a:ext>
            </a:extLst>
          </p:cNvPr>
          <p:cNvSpPr/>
          <p:nvPr/>
        </p:nvSpPr>
        <p:spPr>
          <a:xfrm>
            <a:off x="914400" y="3619500"/>
            <a:ext cx="88900" cy="1524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A3AB852-B612-6DC3-5DC7-3ABE8CB75F60}"/>
              </a:ext>
            </a:extLst>
          </p:cNvPr>
          <p:cNvSpPr txBox="1"/>
          <p:nvPr/>
        </p:nvSpPr>
        <p:spPr>
          <a:xfrm>
            <a:off x="1143000" y="3771900"/>
            <a:ext cx="292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Detector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1D74A49-D0F8-ECAD-8E7A-C31E70551419}"/>
              </a:ext>
            </a:extLst>
          </p:cNvPr>
          <p:cNvSpPr txBox="1"/>
          <p:nvPr/>
        </p:nvSpPr>
        <p:spPr>
          <a:xfrm>
            <a:off x="1143000" y="4152900"/>
            <a:ext cx="292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Default model: keremberke/yolov5n-license-plate. It localizes candidate plate regions.</a:t>
            </a: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E3D35DDB-CA56-1ACC-100F-F508B9DB7084}"/>
              </a:ext>
            </a:extLst>
          </p:cNvPr>
          <p:cNvSpPr/>
          <p:nvPr/>
        </p:nvSpPr>
        <p:spPr>
          <a:xfrm>
            <a:off x="4635500" y="3619500"/>
            <a:ext cx="2921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154DEF3A-16FB-B26A-97BA-42F727A8E2D5}"/>
              </a:ext>
            </a:extLst>
          </p:cNvPr>
          <p:cNvSpPr/>
          <p:nvPr/>
        </p:nvSpPr>
        <p:spPr>
          <a:xfrm>
            <a:off x="4635500" y="3619500"/>
            <a:ext cx="88900" cy="1524000"/>
          </a:xfrm>
          <a:prstGeom prst="rect">
            <a:avLst/>
          </a:prstGeom>
          <a:solidFill>
            <a:srgbClr val="F597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7D5A1032-FB9F-3BC4-5A33-77C5CD8FB802}"/>
              </a:ext>
            </a:extLst>
          </p:cNvPr>
          <p:cNvSpPr txBox="1"/>
          <p:nvPr/>
        </p:nvSpPr>
        <p:spPr>
          <a:xfrm>
            <a:off x="4864100" y="3771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OCR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8185F465-51FC-65D9-F429-7716343A852D}"/>
              </a:ext>
            </a:extLst>
          </p:cNvPr>
          <p:cNvSpPr txBox="1"/>
          <p:nvPr/>
        </p:nvSpPr>
        <p:spPr>
          <a:xfrm>
            <a:off x="4864100" y="4152900"/>
            <a:ext cx="254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PaddleOCR reads text from the cropped plate, not from the full image.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B139AFF4-F444-BC4A-BB35-6E3DD1256AB4}"/>
              </a:ext>
            </a:extLst>
          </p:cNvPr>
          <p:cNvSpPr/>
          <p:nvPr/>
        </p:nvSpPr>
        <p:spPr>
          <a:xfrm>
            <a:off x="7975600" y="3619500"/>
            <a:ext cx="3302000" cy="1524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7B4D890F-F3F4-034D-0E91-2790DC394805}"/>
              </a:ext>
            </a:extLst>
          </p:cNvPr>
          <p:cNvSpPr/>
          <p:nvPr/>
        </p:nvSpPr>
        <p:spPr>
          <a:xfrm>
            <a:off x="7975600" y="3619500"/>
            <a:ext cx="88900" cy="1524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822C93F-EF76-A43C-513C-1953A586FCF2}"/>
              </a:ext>
            </a:extLst>
          </p:cNvPr>
          <p:cNvSpPr txBox="1"/>
          <p:nvPr/>
        </p:nvSpPr>
        <p:spPr>
          <a:xfrm>
            <a:off x="8204200" y="3771900"/>
            <a:ext cx="292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Service output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0247BBB-3FC4-99BF-6AA3-BE8861489E28}"/>
              </a:ext>
            </a:extLst>
          </p:cNvPr>
          <p:cNvSpPr txBox="1"/>
          <p:nvPr/>
        </p:nvSpPr>
        <p:spPr>
          <a:xfrm>
            <a:off x="8204200" y="4152900"/>
            <a:ext cx="292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plateText, confidence, bbox and alternative candidates are returned as JSON.</a:t>
            </a:r>
          </a:p>
        </p:txBody>
      </p:sp>
    </p:spTree>
    <p:extLst>
      <p:ext uri="{BB962C8B-B14F-4D97-AF65-F5344CB8AC3E}">
        <p14:creationId xmlns:p14="http://schemas.microsoft.com/office/powerpoint/2010/main" val="240937252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E3AF1A9-1729-EF63-87D0-5C13BA9846C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643DF70-4A5D-50B5-470D-3C274F1A65C2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AD50D-568B-285A-AD8E-E5C8436CCF13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D93E9-E966-5079-7887-9C15A27D3876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36F9F0-A1DA-88C5-5E78-426883909E5B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Image Recognition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DD3918-B41F-F3F7-12A7-D87BABC92A77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image workflow continues after ML inference.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2B67DA7-2156-B64C-C4BA-9E1681903E7F}"/>
              </a:ext>
            </a:extLst>
          </p:cNvPr>
          <p:cNvSpPr/>
          <p:nvPr/>
        </p:nvSpPr>
        <p:spPr>
          <a:xfrm>
            <a:off x="660400" y="1651000"/>
            <a:ext cx="31115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311D819-2337-6AF7-2D82-F8889B8AC3F8}"/>
              </a:ext>
            </a:extLst>
          </p:cNvPr>
          <p:cNvSpPr/>
          <p:nvPr/>
        </p:nvSpPr>
        <p:spPr>
          <a:xfrm>
            <a:off x="660400" y="1651000"/>
            <a:ext cx="88900" cy="9398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7FBFED7-D510-637B-B58F-5EB1E529BD9F}"/>
              </a:ext>
            </a:extLst>
          </p:cNvPr>
          <p:cNvSpPr txBox="1"/>
          <p:nvPr/>
        </p:nvSpPr>
        <p:spPr>
          <a:xfrm>
            <a:off x="8890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1. ML candidate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5EA9F6E-C69E-29C8-F25C-B128365F8698}"/>
              </a:ext>
            </a:extLst>
          </p:cNvPr>
          <p:cNvSpPr txBox="1"/>
          <p:nvPr/>
        </p:nvSpPr>
        <p:spPr>
          <a:xfrm>
            <a:off x="8890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Text, bounding box and confidence returned by the Python service.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367E488D-E448-5A52-D7BA-38A656D859C5}"/>
              </a:ext>
            </a:extLst>
          </p:cNvPr>
          <p:cNvSpPr/>
          <p:nvPr/>
        </p:nvSpPr>
        <p:spPr>
          <a:xfrm>
            <a:off x="660400" y="2857500"/>
            <a:ext cx="31115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D9B477B-B754-8004-8A94-A82D874D675C}"/>
              </a:ext>
            </a:extLst>
          </p:cNvPr>
          <p:cNvSpPr/>
          <p:nvPr/>
        </p:nvSpPr>
        <p:spPr>
          <a:xfrm>
            <a:off x="660400" y="2857500"/>
            <a:ext cx="88900" cy="9398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9753C4F-1205-9FE4-F53F-5F20FA0072EC}"/>
              </a:ext>
            </a:extLst>
          </p:cNvPr>
          <p:cNvSpPr txBox="1"/>
          <p:nvPr/>
        </p:nvSpPr>
        <p:spPr>
          <a:xfrm>
            <a:off x="889000" y="30099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2. Backend processing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C0326A8-AFC7-EE26-98C2-4305B32C7852}"/>
              </a:ext>
            </a:extLst>
          </p:cNvPr>
          <p:cNvSpPr txBox="1"/>
          <p:nvPr/>
        </p:nvSpPr>
        <p:spPr>
          <a:xfrm>
            <a:off x="889000" y="33909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Normalize, check and persist the recognition result.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0DA925EB-8196-CDE0-E9D8-1DC401FE6823}"/>
              </a:ext>
            </a:extLst>
          </p:cNvPr>
          <p:cNvSpPr/>
          <p:nvPr/>
        </p:nvSpPr>
        <p:spPr>
          <a:xfrm>
            <a:off x="660400" y="4064000"/>
            <a:ext cx="3111500" cy="939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F2B36DB-D0AC-CBD5-28A3-720582960C4A}"/>
              </a:ext>
            </a:extLst>
          </p:cNvPr>
          <p:cNvSpPr/>
          <p:nvPr/>
        </p:nvSpPr>
        <p:spPr>
          <a:xfrm>
            <a:off x="660400" y="4064000"/>
            <a:ext cx="88900" cy="939800"/>
          </a:xfrm>
          <a:prstGeom prst="rect">
            <a:avLst/>
          </a:prstGeom>
          <a:solidFill>
            <a:srgbClr val="F59743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A068B57-4CC4-69D9-F3FF-D750CEC2C597}"/>
              </a:ext>
            </a:extLst>
          </p:cNvPr>
          <p:cNvSpPr txBox="1"/>
          <p:nvPr/>
        </p:nvSpPr>
        <p:spPr>
          <a:xfrm>
            <a:off x="889000" y="4216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3. Operational use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1631043-422C-03D8-CFA6-37225C70237E}"/>
              </a:ext>
            </a:extLst>
          </p:cNvPr>
          <p:cNvSpPr txBox="1"/>
          <p:nvPr/>
        </p:nvSpPr>
        <p:spPr>
          <a:xfrm>
            <a:off x="889000" y="4597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Detection appears in vehicle lookup, audit, review and reports.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3550737-6AEA-2575-96C5-65CD948421B2}"/>
              </a:ext>
            </a:extLst>
          </p:cNvPr>
          <p:cNvCxnSpPr/>
          <p:nvPr/>
        </p:nvCxnSpPr>
        <p:spPr>
          <a:xfrm>
            <a:off x="2222500" y="2590800"/>
            <a:ext cx="0" cy="26670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5A31741-3675-42D2-B749-39E979E191F4}"/>
              </a:ext>
            </a:extLst>
          </p:cNvPr>
          <p:cNvCxnSpPr/>
          <p:nvPr/>
        </p:nvCxnSpPr>
        <p:spPr>
          <a:xfrm>
            <a:off x="2222500" y="3797300"/>
            <a:ext cx="0" cy="26670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3" name="Picture 22">
            <a:extLst>
              <a:ext uri="{FF2B5EF4-FFF2-40B4-BE49-F238E27FC236}">
                <a16:creationId xmlns:a16="http://schemas.microsoft.com/office/drawing/2014/main" id="{0478942B-CD9E-29C4-9517-43B0B2C145E5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5000" y="2475869"/>
            <a:ext cx="6604000" cy="2287262"/>
          </a:xfrm>
          <a:prstGeom prst="rect">
            <a:avLst/>
          </a:prstGeom>
          <a:ln w="1524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54228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B79C0A-CBCA-948B-95E2-B2819F91832B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EAAA05B-115A-76C0-74F5-85100652797F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8001AC0-25AF-C678-65A5-376337B071D6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8ABC47C-3F5A-A88B-2209-05C4DC4292E2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1D31D72-E9A8-F99B-EE22-2C9FCC6B2DE9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Video Recognition Workflow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F77372-F7A3-1356-A180-48933C022488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goal is compact plate-level results, not frame-by-frame OCR spam.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8410595-CBCA-4B45-4126-9D2A50383F62}"/>
              </a:ext>
            </a:extLst>
          </p:cNvPr>
          <p:cNvSpPr/>
          <p:nvPr/>
        </p:nvSpPr>
        <p:spPr>
          <a:xfrm>
            <a:off x="7874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C41E28-7B93-483D-226B-48F09A4C410C}"/>
              </a:ext>
            </a:extLst>
          </p:cNvPr>
          <p:cNvSpPr/>
          <p:nvPr/>
        </p:nvSpPr>
        <p:spPr>
          <a:xfrm>
            <a:off x="787400" y="1651000"/>
            <a:ext cx="88900" cy="1397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2983BB-0D09-7AF4-477C-848A8C43B197}"/>
              </a:ext>
            </a:extLst>
          </p:cNvPr>
          <p:cNvSpPr txBox="1"/>
          <p:nvPr/>
        </p:nvSpPr>
        <p:spPr>
          <a:xfrm>
            <a:off x="10160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Long video input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1AD0B53-81A5-9ECB-107E-1DD1EE1B5628}"/>
              </a:ext>
            </a:extLst>
          </p:cNvPr>
          <p:cNvSpPr txBox="1"/>
          <p:nvPr/>
        </p:nvSpPr>
        <p:spPr>
          <a:xfrm>
            <a:off x="10160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Many frames, repeated vehicles and possible motion blur.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4863F19-7302-79E3-E886-534BB87497DA}"/>
              </a:ext>
            </a:extLst>
          </p:cNvPr>
          <p:cNvSpPr/>
          <p:nvPr/>
        </p:nvSpPr>
        <p:spPr>
          <a:xfrm>
            <a:off x="45466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C33E2310-9061-51FC-A3E4-C5D196A74424}"/>
              </a:ext>
            </a:extLst>
          </p:cNvPr>
          <p:cNvSpPr/>
          <p:nvPr/>
        </p:nvSpPr>
        <p:spPr>
          <a:xfrm>
            <a:off x="4546600" y="1651000"/>
            <a:ext cx="88900" cy="1397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032CB7B-74B6-A66A-E454-734914540D2B}"/>
              </a:ext>
            </a:extLst>
          </p:cNvPr>
          <p:cNvSpPr txBox="1"/>
          <p:nvPr/>
        </p:nvSpPr>
        <p:spPr>
          <a:xfrm>
            <a:off x="47752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Sampling + tracking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5077B21-3E69-9066-9836-AE1EC6E5257D}"/>
              </a:ext>
            </a:extLst>
          </p:cNvPr>
          <p:cNvSpPr txBox="1"/>
          <p:nvPr/>
        </p:nvSpPr>
        <p:spPr>
          <a:xfrm>
            <a:off x="47752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Process selected frames and group repeated appearances.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62FAF612-070A-54AB-C674-EF9435808581}"/>
              </a:ext>
            </a:extLst>
          </p:cNvPr>
          <p:cNvSpPr/>
          <p:nvPr/>
        </p:nvSpPr>
        <p:spPr>
          <a:xfrm>
            <a:off x="83058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CD9D4D-6C8D-F031-C396-FEE7ADD79D1B}"/>
              </a:ext>
            </a:extLst>
          </p:cNvPr>
          <p:cNvSpPr/>
          <p:nvPr/>
        </p:nvSpPr>
        <p:spPr>
          <a:xfrm>
            <a:off x="8305800" y="1651000"/>
            <a:ext cx="88900" cy="13970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BA80683-60EF-6295-2C6A-6712E340DDF9}"/>
              </a:ext>
            </a:extLst>
          </p:cNvPr>
          <p:cNvSpPr txBox="1"/>
          <p:nvPr/>
        </p:nvSpPr>
        <p:spPr>
          <a:xfrm>
            <a:off x="85344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Unique results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02A9F98C-C48E-78B2-89FA-AD83B1A51084}"/>
              </a:ext>
            </a:extLst>
          </p:cNvPr>
          <p:cNvSpPr txBox="1"/>
          <p:nvPr/>
        </p:nvSpPr>
        <p:spPr>
          <a:xfrm>
            <a:off x="85344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Plate strings, timestamps and representative visual context.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62B90FB-77F6-BD3F-C078-E6547D06B1F1}"/>
              </a:ext>
            </a:extLst>
          </p:cNvPr>
          <p:cNvCxnSpPr/>
          <p:nvPr/>
        </p:nvCxnSpPr>
        <p:spPr>
          <a:xfrm>
            <a:off x="3898900" y="2349500"/>
            <a:ext cx="6477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5F3E3A2-A2DB-BC37-8B26-6FD87F717991}"/>
              </a:ext>
            </a:extLst>
          </p:cNvPr>
          <p:cNvCxnSpPr/>
          <p:nvPr/>
        </p:nvCxnSpPr>
        <p:spPr>
          <a:xfrm>
            <a:off x="7658100" y="2349500"/>
            <a:ext cx="647700" cy="0"/>
          </a:xfrm>
          <a:prstGeom prst="line">
            <a:avLst/>
          </a:prstGeom>
          <a:ln w="20320">
            <a:solidFill>
              <a:srgbClr val="5A6C7C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14012DA-0716-AF28-7CC3-7F1BA9BAD47B}"/>
              </a:ext>
            </a:extLst>
          </p:cNvPr>
          <p:cNvSpPr txBox="1"/>
          <p:nvPr/>
        </p:nvSpPr>
        <p:spPr>
          <a:xfrm>
            <a:off x="889000" y="3873500"/>
            <a:ext cx="4953000" cy="178510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Reduces inference time compared with processing every frame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Avoids duplicate detections overwhelming the user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Keeps representative frames for vehicle attribute recognition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n-GB" sz="1500">
                <a:solidFill>
                  <a:srgbClr val="142432"/>
                </a:solidFill>
                <a:latin typeface="Aptos" panose="020B0004020202020204" pitchFamily="34" charset="0"/>
              </a:rPr>
              <a:t>OpenAI analysis is applied only to selected images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4F88F00-1E93-F974-46F2-018EAA8B442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21500" y="3801150"/>
            <a:ext cx="4318000" cy="1541700"/>
          </a:xfrm>
          <a:prstGeom prst="rect">
            <a:avLst/>
          </a:prstGeom>
          <a:ln w="1524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5924169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72AB6D8-595F-503A-1E7A-09469BE8937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B2E853E-3D6D-4D46-F9BE-3B67B1309FC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F31BEA9-E4CB-5C21-9447-EB133A6F0F03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F194D97-7F3A-A8CA-C0AB-1322D21D7B8E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E7D8451-6C24-7345-C42D-AC0408A684DF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AI Assistance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E9768CE-D358-529A-207B-1A404D9397CC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Model </a:t>
            </a:r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helps interaction and context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D3D0BF1-BAE7-8143-AE32-2F4690DCA7C0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2663" y="1587500"/>
            <a:ext cx="2954174" cy="3873500"/>
          </a:xfrm>
          <a:prstGeom prst="rect">
            <a:avLst/>
          </a:prstGeom>
          <a:ln w="15240">
            <a:solidFill>
              <a:schemeClr val="tx1"/>
            </a:solidFill>
          </a:ln>
        </p:spPr>
      </p:pic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9815AC38-CF02-B71D-B721-CD8E3157E041}"/>
              </a:ext>
            </a:extLst>
          </p:cNvPr>
          <p:cNvSpPr/>
          <p:nvPr/>
        </p:nvSpPr>
        <p:spPr>
          <a:xfrm>
            <a:off x="6159500" y="1651000"/>
            <a:ext cx="4572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9E48D2-D4F3-5E90-76EA-B86EC750BF1F}"/>
              </a:ext>
            </a:extLst>
          </p:cNvPr>
          <p:cNvSpPr/>
          <p:nvPr/>
        </p:nvSpPr>
        <p:spPr>
          <a:xfrm>
            <a:off x="6159500" y="1651000"/>
            <a:ext cx="88900" cy="10668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86B2EACD-AB41-2FE0-2E61-8BCB8B6F0C9F}"/>
              </a:ext>
            </a:extLst>
          </p:cNvPr>
          <p:cNvSpPr txBox="1"/>
          <p:nvPr/>
        </p:nvSpPr>
        <p:spPr>
          <a:xfrm>
            <a:off x="6388100" y="1803400"/>
            <a:ext cx="419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Copilot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670A65-6245-08B1-5719-97191CA1B117}"/>
              </a:ext>
            </a:extLst>
          </p:cNvPr>
          <p:cNvSpPr txBox="1"/>
          <p:nvPr/>
        </p:nvSpPr>
        <p:spPr>
          <a:xfrm>
            <a:off x="6388100" y="2184400"/>
            <a:ext cx="419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Natural language requests are mapped to predefined safe backend intents.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397D3348-D8F1-5D46-B023-6156D953F22F}"/>
              </a:ext>
            </a:extLst>
          </p:cNvPr>
          <p:cNvSpPr/>
          <p:nvPr/>
        </p:nvSpPr>
        <p:spPr>
          <a:xfrm>
            <a:off x="6159500" y="2946400"/>
            <a:ext cx="4572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CB1E4AA-9728-F030-154F-2DDF72672298}"/>
              </a:ext>
            </a:extLst>
          </p:cNvPr>
          <p:cNvSpPr/>
          <p:nvPr/>
        </p:nvSpPr>
        <p:spPr>
          <a:xfrm>
            <a:off x="6159500" y="2946400"/>
            <a:ext cx="88900" cy="10668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DD1BCA-C208-F39D-FDC6-8CE779C3F06F}"/>
              </a:ext>
            </a:extLst>
          </p:cNvPr>
          <p:cNvSpPr txBox="1"/>
          <p:nvPr/>
        </p:nvSpPr>
        <p:spPr>
          <a:xfrm>
            <a:off x="6388100" y="3098800"/>
            <a:ext cx="419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Vehicle attributes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A278066-A78F-6470-2E7C-A29B97B1334D}"/>
              </a:ext>
            </a:extLst>
          </p:cNvPr>
          <p:cNvSpPr txBox="1"/>
          <p:nvPr/>
        </p:nvSpPr>
        <p:spPr>
          <a:xfrm>
            <a:off x="6388100" y="3479800"/>
            <a:ext cx="419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Representative images can produce make, model, color and body type suggestions.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B5CF257-11F4-4E63-B01E-300773D54741}"/>
              </a:ext>
            </a:extLst>
          </p:cNvPr>
          <p:cNvSpPr/>
          <p:nvPr/>
        </p:nvSpPr>
        <p:spPr>
          <a:xfrm>
            <a:off x="6159500" y="4241800"/>
            <a:ext cx="4572000" cy="1066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1A6A7D-8A79-AA13-DC17-786BC3828360}"/>
              </a:ext>
            </a:extLst>
          </p:cNvPr>
          <p:cNvSpPr/>
          <p:nvPr/>
        </p:nvSpPr>
        <p:spPr>
          <a:xfrm>
            <a:off x="6159500" y="4241800"/>
            <a:ext cx="88900" cy="10668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149293C-20F8-6E9B-BE2D-F9D726A0CB21}"/>
              </a:ext>
            </a:extLst>
          </p:cNvPr>
          <p:cNvSpPr txBox="1"/>
          <p:nvPr/>
        </p:nvSpPr>
        <p:spPr>
          <a:xfrm>
            <a:off x="6388100" y="4394200"/>
            <a:ext cx="4191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Model choice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1B4AE0C5-2D65-CC02-16B0-C58577241208}"/>
              </a:ext>
            </a:extLst>
          </p:cNvPr>
          <p:cNvSpPr txBox="1"/>
          <p:nvPr/>
        </p:nvSpPr>
        <p:spPr>
          <a:xfrm>
            <a:off x="6388100" y="4775200"/>
            <a:ext cx="4191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gpt-4o-mini: strong small-model benchmark results, text + vision support, good cost/latency.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9872617-AF87-B53A-0EF8-32ED8D018D74}"/>
              </a:ext>
            </a:extLst>
          </p:cNvPr>
          <p:cNvSpPr txBox="1"/>
          <p:nvPr/>
        </p:nvSpPr>
        <p:spPr>
          <a:xfrm>
            <a:off x="6350000" y="5740400"/>
            <a:ext cx="4191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50">
                <a:solidFill>
                  <a:srgbClr val="5A6C7C"/>
                </a:solidFill>
                <a:latin typeface="Aptos" panose="020B0004020202020204" pitchFamily="34" charset="0"/>
              </a:rPr>
              <a:t>Integrated through API calls, prompt engineering and constrained outputs; not trained locally.</a:t>
            </a:r>
          </a:p>
        </p:txBody>
      </p:sp>
    </p:spTree>
    <p:extLst>
      <p:ext uri="{BB962C8B-B14F-4D97-AF65-F5344CB8AC3E}">
        <p14:creationId xmlns:p14="http://schemas.microsoft.com/office/powerpoint/2010/main" val="19598735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ckground"/>
          <p:cNvSpPr/>
          <p:nvPr/>
        </p:nvSpPr>
        <p:spPr>
          <a:xfrm>
            <a:off x="0" y="9427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3" name="top rule"/>
          <p:cNvSpPr/>
          <p:nvPr/>
        </p:nvSpPr>
        <p:spPr>
          <a:xfrm>
            <a:off x="0" y="0"/>
            <a:ext cx="12192000" cy="889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4" name="title"/>
          <p:cNvSpPr txBox="1"/>
          <p:nvPr/>
        </p:nvSpPr>
        <p:spPr>
          <a:xfrm>
            <a:off x="685800" y="431800"/>
            <a:ext cx="10414000" cy="5334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2500" b="1">
                <a:solidFill>
                  <a:srgbClr val="121E2A"/>
                </a:solidFill>
                <a:latin typeface="Aptos"/>
              </a:rPr>
              <a:t>Evaluation Results</a:t>
            </a:r>
            <a:endParaRPr lang="en-US" sz="2500"/>
          </a:p>
        </p:txBody>
      </p:sp>
      <p:sp>
        <p:nvSpPr>
          <p:cNvPr id="5" name="subtitle"/>
          <p:cNvSpPr txBox="1"/>
          <p:nvPr/>
        </p:nvSpPr>
        <p:spPr>
          <a:xfrm>
            <a:off x="685800" y="927100"/>
            <a:ext cx="10033000" cy="355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4E6378"/>
                </a:solidFill>
                <a:latin typeface="Aptos"/>
              </a:rPr>
              <a:t>Measured prototype behavior using the implemented backend workflows.</a:t>
            </a:r>
            <a:endParaRPr lang="en-US" sz="1200"/>
          </a:p>
        </p:txBody>
      </p:sp>
      <p:sp>
        <p:nvSpPr>
          <p:cNvPr id="6" name="table shadow"/>
          <p:cNvSpPr/>
          <p:nvPr/>
        </p:nvSpPr>
        <p:spPr>
          <a:xfrm>
            <a:off x="1041400" y="1651000"/>
            <a:ext cx="10223500" cy="3149600"/>
          </a:xfrm>
          <a:prstGeom prst="rect">
            <a:avLst/>
          </a:prstGeom>
          <a:solidFill>
            <a:srgbClr val="DDE5EC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7" name="table card"/>
          <p:cNvSpPr/>
          <p:nvPr/>
        </p:nvSpPr>
        <p:spPr>
          <a:xfrm>
            <a:off x="965200" y="1562100"/>
            <a:ext cx="10223500" cy="3371850"/>
          </a:xfrm>
          <a:prstGeom prst="rect">
            <a:avLst/>
          </a:prstGeom>
          <a:solidFill>
            <a:srgbClr val="FFFFFF"/>
          </a:solidFill>
          <a:ln w="9000">
            <a:solidFill>
              <a:srgbClr val="D4DEE8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8" name="accent"/>
          <p:cNvSpPr/>
          <p:nvPr/>
        </p:nvSpPr>
        <p:spPr>
          <a:xfrm>
            <a:off x="965200" y="1562100"/>
            <a:ext cx="76200" cy="3149600"/>
          </a:xfrm>
          <a:prstGeom prst="rect">
            <a:avLst/>
          </a:prstGeom>
          <a:solidFill>
            <a:srgbClr val="1E90D6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9" name="head metric"/>
          <p:cNvSpPr txBox="1"/>
          <p:nvPr/>
        </p:nvSpPr>
        <p:spPr>
          <a:xfrm>
            <a:off x="1320800" y="1841500"/>
            <a:ext cx="3746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121E2A"/>
                </a:solidFill>
                <a:latin typeface="Aptos"/>
              </a:rPr>
              <a:t>Metric</a:t>
            </a:r>
            <a:endParaRPr lang="en-US" sz="1300"/>
          </a:p>
        </p:txBody>
      </p:sp>
      <p:sp>
        <p:nvSpPr>
          <p:cNvPr id="10" name="head result"/>
          <p:cNvSpPr txBox="1"/>
          <p:nvPr/>
        </p:nvSpPr>
        <p:spPr>
          <a:xfrm>
            <a:off x="5143500" y="1841500"/>
            <a:ext cx="18415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300" b="1">
                <a:solidFill>
                  <a:srgbClr val="121E2A"/>
                </a:solidFill>
                <a:latin typeface="Aptos"/>
              </a:rPr>
              <a:t>Result</a:t>
            </a:r>
            <a:endParaRPr lang="en-US" sz="1300"/>
          </a:p>
        </p:txBody>
      </p:sp>
      <p:sp>
        <p:nvSpPr>
          <p:cNvPr id="11" name="head note"/>
          <p:cNvSpPr txBox="1"/>
          <p:nvPr/>
        </p:nvSpPr>
        <p:spPr>
          <a:xfrm>
            <a:off x="7289800" y="1841500"/>
            <a:ext cx="3429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300" b="1">
                <a:solidFill>
                  <a:srgbClr val="121E2A"/>
                </a:solidFill>
                <a:latin typeface="Aptos"/>
              </a:rPr>
              <a:t>Interpretation</a:t>
            </a:r>
            <a:endParaRPr lang="en-US" sz="1300"/>
          </a:p>
        </p:txBody>
      </p:sp>
      <p:sp>
        <p:nvSpPr>
          <p:cNvPr id="12" name="separator"/>
          <p:cNvSpPr/>
          <p:nvPr/>
        </p:nvSpPr>
        <p:spPr>
          <a:xfrm>
            <a:off x="1320800" y="2209800"/>
            <a:ext cx="9271000" cy="15240"/>
          </a:xfrm>
          <a:prstGeom prst="rect">
            <a:avLst/>
          </a:prstGeom>
          <a:solidFill>
            <a:srgbClr val="D4DEE8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3" name="row background"/>
          <p:cNvSpPr/>
          <p:nvPr/>
        </p:nvSpPr>
        <p:spPr>
          <a:xfrm>
            <a:off x="1193800" y="2374900"/>
            <a:ext cx="9525000" cy="4826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14" name="metric"/>
          <p:cNvSpPr txBox="1"/>
          <p:nvPr/>
        </p:nvSpPr>
        <p:spPr>
          <a:xfrm>
            <a:off x="1320800" y="24257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Photo exact plate match</a:t>
            </a:r>
            <a:endParaRPr lang="en-US" sz="1200"/>
          </a:p>
        </p:txBody>
      </p:sp>
      <p:sp>
        <p:nvSpPr>
          <p:cNvPr id="15" name="result"/>
          <p:cNvSpPr txBox="1"/>
          <p:nvPr/>
        </p:nvSpPr>
        <p:spPr>
          <a:xfrm>
            <a:off x="5130800" y="24257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 dirty="0">
                <a:solidFill>
                  <a:srgbClr val="1E90D6"/>
                </a:solidFill>
                <a:latin typeface="Aptos"/>
              </a:rPr>
              <a:t>  90.0%</a:t>
            </a:r>
            <a:endParaRPr lang="en-US" sz="1400" dirty="0"/>
          </a:p>
        </p:txBody>
      </p:sp>
      <p:sp>
        <p:nvSpPr>
          <p:cNvPr id="16" name="note"/>
          <p:cNvSpPr txBox="1"/>
          <p:nvPr/>
        </p:nvSpPr>
        <p:spPr>
          <a:xfrm>
            <a:off x="7226300" y="24257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correct normalized plate strings</a:t>
            </a:r>
            <a:endParaRPr lang="en-US" sz="1000"/>
          </a:p>
        </p:txBody>
      </p:sp>
      <p:sp>
        <p:nvSpPr>
          <p:cNvPr id="17" name="metric"/>
          <p:cNvSpPr txBox="1"/>
          <p:nvPr/>
        </p:nvSpPr>
        <p:spPr>
          <a:xfrm>
            <a:off x="1320800" y="28575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Average image processing time</a:t>
            </a:r>
            <a:endParaRPr lang="en-US" sz="1200"/>
          </a:p>
        </p:txBody>
      </p:sp>
      <p:sp>
        <p:nvSpPr>
          <p:cNvPr id="18" name="result"/>
          <p:cNvSpPr txBox="1"/>
          <p:nvPr/>
        </p:nvSpPr>
        <p:spPr>
          <a:xfrm>
            <a:off x="5130800" y="28575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1E90D6"/>
                </a:solidFill>
                <a:latin typeface="Aptos"/>
              </a:rPr>
              <a:t>2.73 s/image</a:t>
            </a:r>
            <a:endParaRPr lang="en-US" sz="1400"/>
          </a:p>
        </p:txBody>
      </p:sp>
      <p:sp>
        <p:nvSpPr>
          <p:cNvPr id="19" name="note"/>
          <p:cNvSpPr txBox="1"/>
          <p:nvPr/>
        </p:nvSpPr>
        <p:spPr>
          <a:xfrm>
            <a:off x="7226300" y="28575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client-observed full backend request</a:t>
            </a:r>
            <a:endParaRPr lang="en-US" sz="1000"/>
          </a:p>
        </p:txBody>
      </p:sp>
      <p:sp>
        <p:nvSpPr>
          <p:cNvPr id="20" name="row background"/>
          <p:cNvSpPr/>
          <p:nvPr/>
        </p:nvSpPr>
        <p:spPr>
          <a:xfrm>
            <a:off x="1193800" y="3238500"/>
            <a:ext cx="9525000" cy="4826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1" name="metric"/>
          <p:cNvSpPr txBox="1"/>
          <p:nvPr/>
        </p:nvSpPr>
        <p:spPr>
          <a:xfrm>
            <a:off x="1320800" y="32893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Average video processing time</a:t>
            </a:r>
            <a:endParaRPr lang="en-US" sz="1200"/>
          </a:p>
        </p:txBody>
      </p:sp>
      <p:sp>
        <p:nvSpPr>
          <p:cNvPr id="22" name="result"/>
          <p:cNvSpPr txBox="1"/>
          <p:nvPr/>
        </p:nvSpPr>
        <p:spPr>
          <a:xfrm>
            <a:off x="5130800" y="32893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2EBA72"/>
                </a:solidFill>
                <a:latin typeface="Aptos"/>
              </a:rPr>
              <a:t>28.4 s/video</a:t>
            </a:r>
            <a:endParaRPr lang="en-US" sz="1400"/>
          </a:p>
        </p:txBody>
      </p:sp>
      <p:sp>
        <p:nvSpPr>
          <p:cNvPr id="23" name="note"/>
          <p:cNvSpPr txBox="1"/>
          <p:nvPr/>
        </p:nvSpPr>
        <p:spPr>
          <a:xfrm>
            <a:off x="7226300" y="32893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full asynchronous video workflow</a:t>
            </a:r>
            <a:endParaRPr lang="en-US" sz="1000"/>
          </a:p>
        </p:txBody>
      </p:sp>
      <p:sp>
        <p:nvSpPr>
          <p:cNvPr id="24" name="metric"/>
          <p:cNvSpPr txBox="1"/>
          <p:nvPr/>
        </p:nvSpPr>
        <p:spPr>
          <a:xfrm>
            <a:off x="1320800" y="37211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Video recognition F1 score</a:t>
            </a:r>
            <a:endParaRPr lang="en-US" sz="1200"/>
          </a:p>
        </p:txBody>
      </p:sp>
      <p:sp>
        <p:nvSpPr>
          <p:cNvPr id="25" name="result"/>
          <p:cNvSpPr txBox="1"/>
          <p:nvPr/>
        </p:nvSpPr>
        <p:spPr>
          <a:xfrm>
            <a:off x="5130800" y="37211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2EBA72"/>
                </a:solidFill>
                <a:latin typeface="Aptos"/>
              </a:rPr>
              <a:t>82.4%</a:t>
            </a:r>
            <a:endParaRPr lang="en-US" sz="1400"/>
          </a:p>
        </p:txBody>
      </p:sp>
      <p:sp>
        <p:nvSpPr>
          <p:cNvPr id="26" name="note"/>
          <p:cNvSpPr txBox="1"/>
          <p:nvPr/>
        </p:nvSpPr>
        <p:spPr>
          <a:xfrm>
            <a:off x="7226300" y="37211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compact summary of video recognition behavior</a:t>
            </a:r>
            <a:endParaRPr lang="en-US" sz="1000"/>
          </a:p>
        </p:txBody>
      </p:sp>
      <p:sp>
        <p:nvSpPr>
          <p:cNvPr id="27" name="row background"/>
          <p:cNvSpPr/>
          <p:nvPr/>
        </p:nvSpPr>
        <p:spPr>
          <a:xfrm>
            <a:off x="1193800" y="4102100"/>
            <a:ext cx="9525000" cy="482600"/>
          </a:xfrm>
          <a:prstGeom prst="rect">
            <a:avLst/>
          </a:prstGeom>
          <a:solidFill>
            <a:srgbClr val="F1F6FA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" name="metric"/>
          <p:cNvSpPr txBox="1"/>
          <p:nvPr/>
        </p:nvSpPr>
        <p:spPr>
          <a:xfrm>
            <a:off x="1320800" y="41529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Copilot correct responses</a:t>
            </a:r>
            <a:endParaRPr lang="en-US" sz="1200"/>
          </a:p>
        </p:txBody>
      </p:sp>
      <p:sp>
        <p:nvSpPr>
          <p:cNvPr id="29" name="result"/>
          <p:cNvSpPr txBox="1"/>
          <p:nvPr/>
        </p:nvSpPr>
        <p:spPr>
          <a:xfrm>
            <a:off x="5130800" y="41529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 dirty="0">
                <a:solidFill>
                  <a:srgbClr val="F28C38"/>
                </a:solidFill>
                <a:latin typeface="Aptos"/>
              </a:rPr>
              <a:t>  91.7%</a:t>
            </a:r>
            <a:endParaRPr lang="en-US" sz="1400" dirty="0"/>
          </a:p>
        </p:txBody>
      </p:sp>
      <p:sp>
        <p:nvSpPr>
          <p:cNvPr id="30" name="note"/>
          <p:cNvSpPr txBox="1"/>
          <p:nvPr/>
        </p:nvSpPr>
        <p:spPr>
          <a:xfrm>
            <a:off x="7226300" y="415290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controlled prompts mapped to intended actions</a:t>
            </a:r>
            <a:endParaRPr lang="en-US" sz="1000"/>
          </a:p>
        </p:txBody>
      </p:sp>
      <p:sp>
        <p:nvSpPr>
          <p:cNvPr id="31" name="metric"/>
          <p:cNvSpPr txBox="1"/>
          <p:nvPr/>
        </p:nvSpPr>
        <p:spPr>
          <a:xfrm>
            <a:off x="1320800" y="4584700"/>
            <a:ext cx="3619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200">
                <a:solidFill>
                  <a:srgbClr val="53677A"/>
                </a:solidFill>
                <a:latin typeface="Aptos"/>
              </a:rPr>
              <a:t>Average Copilot response time</a:t>
            </a:r>
            <a:endParaRPr lang="en-US" sz="1200"/>
          </a:p>
        </p:txBody>
      </p:sp>
      <p:sp>
        <p:nvSpPr>
          <p:cNvPr id="32" name="result"/>
          <p:cNvSpPr txBox="1"/>
          <p:nvPr/>
        </p:nvSpPr>
        <p:spPr>
          <a:xfrm>
            <a:off x="5130800" y="4584700"/>
            <a:ext cx="1841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1400" b="1">
                <a:solidFill>
                  <a:srgbClr val="F28C38"/>
                </a:solidFill>
                <a:latin typeface="Aptos"/>
              </a:rPr>
              <a:t>2.13 s/prompt</a:t>
            </a:r>
            <a:endParaRPr lang="en-US" sz="1400"/>
          </a:p>
        </p:txBody>
      </p:sp>
      <p:sp>
        <p:nvSpPr>
          <p:cNvPr id="33" name="note"/>
          <p:cNvSpPr txBox="1"/>
          <p:nvPr/>
        </p:nvSpPr>
        <p:spPr>
          <a:xfrm>
            <a:off x="7226300" y="4603750"/>
            <a:ext cx="3365500" cy="330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1000">
                <a:solidFill>
                  <a:srgbClr val="5F7183"/>
                </a:solidFill>
                <a:latin typeface="Aptos"/>
              </a:rPr>
              <a:t>client-observed request duration</a:t>
            </a:r>
            <a:endParaRPr lang="en-US" sz="1000"/>
          </a:p>
        </p:txBody>
      </p:sp>
      <p:sp>
        <p:nvSpPr>
          <p:cNvPr id="34" name="note strip"/>
          <p:cNvSpPr/>
          <p:nvPr/>
        </p:nvSpPr>
        <p:spPr>
          <a:xfrm>
            <a:off x="1600200" y="5346700"/>
            <a:ext cx="8991600" cy="533400"/>
          </a:xfrm>
          <a:prstGeom prst="rect">
            <a:avLst/>
          </a:prstGeom>
          <a:solidFill>
            <a:srgbClr val="EAF5F1"/>
          </a:solidFill>
          <a:ln w="9000">
            <a:solidFill>
              <a:srgbClr val="C2DED2"/>
            </a:solidFill>
          </a:ln>
        </p:spPr>
        <p:txBody>
          <a:bodyPr/>
          <a:lstStyle/>
          <a:p>
            <a:endParaRPr/>
          </a:p>
        </p:txBody>
      </p:sp>
      <p:sp>
        <p:nvSpPr>
          <p:cNvPr id="35" name="note"/>
          <p:cNvSpPr txBox="1"/>
          <p:nvPr/>
        </p:nvSpPr>
        <p:spPr>
          <a:xfrm>
            <a:off x="1905000" y="5473700"/>
            <a:ext cx="8382000" cy="304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ctr"/>
            <a:r>
              <a:rPr lang="en-US" sz="1200">
                <a:solidFill>
                  <a:srgbClr val="121E2A"/>
                </a:solidFill>
                <a:latin typeface="Aptos"/>
              </a:rPr>
              <a:t>Video plate strings are stored only after Romanian plate validation, text-stability checks and the configured 0.70 confidence threshold.</a:t>
            </a:r>
            <a:endParaRPr lang="en-US" sz="1200"/>
          </a:p>
        </p:txBody>
      </p:sp>
      <p:sp>
        <p:nvSpPr>
          <p:cNvPr id="36" name="footer"/>
          <p:cNvSpPr txBox="1"/>
          <p:nvPr/>
        </p:nvSpPr>
        <p:spPr>
          <a:xfrm>
            <a:off x="508000" y="6451600"/>
            <a:ext cx="279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l"/>
            <a:r>
              <a:rPr lang="en-US" sz="700">
                <a:solidFill>
                  <a:srgbClr val="4E6378"/>
                </a:solidFill>
                <a:latin typeface="Aptos"/>
              </a:rPr>
              <a:t>ALPRo - Bachelor Thesis 2026</a:t>
            </a:r>
            <a:endParaRPr lang="en-US" sz="700"/>
          </a:p>
        </p:txBody>
      </p:sp>
      <p:sp>
        <p:nvSpPr>
          <p:cNvPr id="37" name="page"/>
          <p:cNvSpPr txBox="1"/>
          <p:nvPr/>
        </p:nvSpPr>
        <p:spPr>
          <a:xfrm>
            <a:off x="11430000" y="6451600"/>
            <a:ext cx="254000" cy="177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/>
          <a:lstStyle/>
          <a:p>
            <a:pPr algn="r"/>
            <a:r>
              <a:rPr lang="en-US" sz="700">
                <a:solidFill>
                  <a:srgbClr val="4E6378"/>
                </a:solidFill>
                <a:latin typeface="Aptos"/>
              </a:rPr>
              <a:t>8</a:t>
            </a:r>
            <a:endParaRPr lang="en-US" sz="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6DF3ED4B-ABC4-9627-C771-E801D5797505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93C8E65-E8DE-3BED-34B8-C8A6D40C4A3F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2F3F5BA-5BB8-70BC-DB40-617BFC24A9DC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34DD58-359E-9D33-67F3-0831A8E9242D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Future Work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9F06816-7B69-05F3-08C8-1C91D13F877B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strongest next step is better data, then stronger deployment conditions.</a:t>
            </a:r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21C7B67B-C9CE-5892-70FD-5A8BDAFF670B}"/>
              </a:ext>
            </a:extLst>
          </p:cNvPr>
          <p:cNvSpPr/>
          <p:nvPr/>
        </p:nvSpPr>
        <p:spPr>
          <a:xfrm>
            <a:off x="7620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909E246-FBA1-61B2-2C0C-71A795CAF3B7}"/>
              </a:ext>
            </a:extLst>
          </p:cNvPr>
          <p:cNvSpPr/>
          <p:nvPr/>
        </p:nvSpPr>
        <p:spPr>
          <a:xfrm>
            <a:off x="762000" y="1651000"/>
            <a:ext cx="88900" cy="1397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4D3FF21-DC07-CF8E-1619-41B4E894FE26}"/>
              </a:ext>
            </a:extLst>
          </p:cNvPr>
          <p:cNvSpPr txBox="1"/>
          <p:nvPr/>
        </p:nvSpPr>
        <p:spPr>
          <a:xfrm>
            <a:off x="9906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Dataset expansion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A75FF1-27BC-AE77-9D63-201F3179057A}"/>
              </a:ext>
            </a:extLst>
          </p:cNvPr>
          <p:cNvSpPr txBox="1"/>
          <p:nvPr/>
        </p:nvSpPr>
        <p:spPr>
          <a:xfrm>
            <a:off x="9906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Larger Romanian image and video dataset.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FB2A7761-1E6A-13B6-4A91-7DF295E16798}"/>
              </a:ext>
            </a:extLst>
          </p:cNvPr>
          <p:cNvSpPr/>
          <p:nvPr/>
        </p:nvSpPr>
        <p:spPr>
          <a:xfrm>
            <a:off x="4572000" y="1651000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7DA6029-B806-617E-7F3C-FC59A07B035B}"/>
              </a:ext>
            </a:extLst>
          </p:cNvPr>
          <p:cNvSpPr/>
          <p:nvPr/>
        </p:nvSpPr>
        <p:spPr>
          <a:xfrm>
            <a:off x="4572000" y="1651000"/>
            <a:ext cx="88900" cy="13970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600FF4-AC2B-3EB6-3279-3DADFAE92707}"/>
              </a:ext>
            </a:extLst>
          </p:cNvPr>
          <p:cNvSpPr txBox="1"/>
          <p:nvPr/>
        </p:nvSpPr>
        <p:spPr>
          <a:xfrm>
            <a:off x="4800600" y="1803400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ML improvement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0B9A5B3-2BCE-D672-BDA8-0DD0BE10F25A}"/>
              </a:ext>
            </a:extLst>
          </p:cNvPr>
          <p:cNvSpPr txBox="1"/>
          <p:nvPr/>
        </p:nvSpPr>
        <p:spPr>
          <a:xfrm>
            <a:off x="4800600" y="2184400"/>
            <a:ext cx="2730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Fine-tune or replace the local detector; improve OCR and frame selection.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08A38B-4198-083B-CF8D-AC02C45F4534}"/>
              </a:ext>
            </a:extLst>
          </p:cNvPr>
          <p:cNvSpPr/>
          <p:nvPr/>
        </p:nvSpPr>
        <p:spPr>
          <a:xfrm>
            <a:off x="8382000" y="1651000"/>
            <a:ext cx="2857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CAC7A82-66F4-A0F2-C2D4-CB8694614E58}"/>
              </a:ext>
            </a:extLst>
          </p:cNvPr>
          <p:cNvSpPr/>
          <p:nvPr/>
        </p:nvSpPr>
        <p:spPr>
          <a:xfrm>
            <a:off x="8382000" y="1651000"/>
            <a:ext cx="88900" cy="13970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BA52755-4B2F-F0AF-F87B-5934E479841E}"/>
              </a:ext>
            </a:extLst>
          </p:cNvPr>
          <p:cNvSpPr txBox="1"/>
          <p:nvPr/>
        </p:nvSpPr>
        <p:spPr>
          <a:xfrm>
            <a:off x="8610600" y="1803400"/>
            <a:ext cx="2476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Camera streams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DE13E36-DBF6-459A-44F4-8653DA0D83F4}"/>
              </a:ext>
            </a:extLst>
          </p:cNvPr>
          <p:cNvSpPr txBox="1"/>
          <p:nvPr/>
        </p:nvSpPr>
        <p:spPr>
          <a:xfrm>
            <a:off x="8610600" y="2184400"/>
            <a:ext cx="24765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Connect to parking entrances, exits or traffic-monitoring cameras.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FA3FF196-ABBC-EB9F-15BA-25EE13774232}"/>
              </a:ext>
            </a:extLst>
          </p:cNvPr>
          <p:cNvSpPr/>
          <p:nvPr/>
        </p:nvSpPr>
        <p:spPr>
          <a:xfrm>
            <a:off x="4340650" y="3978102"/>
            <a:ext cx="3111500" cy="1397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14A28A73-F273-6671-584D-7116A3EF5EF3}"/>
              </a:ext>
            </a:extLst>
          </p:cNvPr>
          <p:cNvSpPr/>
          <p:nvPr/>
        </p:nvSpPr>
        <p:spPr>
          <a:xfrm>
            <a:off x="4251750" y="4000500"/>
            <a:ext cx="88900" cy="13970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9EF187-F012-B721-86F1-F31A602B7641}"/>
              </a:ext>
            </a:extLst>
          </p:cNvPr>
          <p:cNvSpPr txBox="1"/>
          <p:nvPr/>
        </p:nvSpPr>
        <p:spPr>
          <a:xfrm>
            <a:off x="4475375" y="4131635"/>
            <a:ext cx="27305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 dirty="0">
                <a:solidFill>
                  <a:srgbClr val="142432"/>
                </a:solidFill>
                <a:latin typeface="Aptos" panose="020B0004020202020204" pitchFamily="34" charset="0"/>
              </a:rPr>
              <a:t>Production hardening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BA3BC501-373F-4579-1A39-0CEF33DE4F28}"/>
              </a:ext>
            </a:extLst>
          </p:cNvPr>
          <p:cNvSpPr txBox="1"/>
          <p:nvPr/>
        </p:nvSpPr>
        <p:spPr>
          <a:xfrm>
            <a:off x="4475375" y="4478492"/>
            <a:ext cx="27305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 dirty="0">
                <a:solidFill>
                  <a:srgbClr val="5A6C7C"/>
                </a:solidFill>
                <a:latin typeface="Aptos" panose="020B0004020202020204" pitchFamily="34" charset="0"/>
              </a:rPr>
              <a:t>Add privacy controls, retention policies, encryption and institutional API integration.</a:t>
            </a:r>
          </a:p>
        </p:txBody>
      </p:sp>
    </p:spTree>
    <p:extLst>
      <p:ext uri="{BB962C8B-B14F-4D97-AF65-F5344CB8AC3E}">
        <p14:creationId xmlns:p14="http://schemas.microsoft.com/office/powerpoint/2010/main" val="36057304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B23DD5-0940-8C18-A7D7-A6A1CE843452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6F8FB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2516647-AC91-4914-CFEC-4BBEC22D9DC1}"/>
              </a:ext>
            </a:extLst>
          </p:cNvPr>
          <p:cNvSpPr/>
          <p:nvPr/>
        </p:nvSpPr>
        <p:spPr>
          <a:xfrm>
            <a:off x="0" y="0"/>
            <a:ext cx="12192000" cy="1016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F475273-169B-4978-C9DA-2F046F43DDB0}"/>
              </a:ext>
            </a:extLst>
          </p:cNvPr>
          <p:cNvSpPr txBox="1"/>
          <p:nvPr/>
        </p:nvSpPr>
        <p:spPr>
          <a:xfrm>
            <a:off x="431800" y="6451600"/>
            <a:ext cx="6350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ALPRo - Bachelor Thesis 2026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3436E36-9728-E3E8-8A28-EAFABD32CDF7}"/>
              </a:ext>
            </a:extLst>
          </p:cNvPr>
          <p:cNvSpPr txBox="1"/>
          <p:nvPr/>
        </p:nvSpPr>
        <p:spPr>
          <a:xfrm>
            <a:off x="11303000" y="6451600"/>
            <a:ext cx="508000" cy="21544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r"/>
            <a:r>
              <a:rPr lang="en-GB" sz="800">
                <a:solidFill>
                  <a:srgbClr val="5A6C7C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00A5099-C7BE-7805-A6DC-10EF99003A25}"/>
              </a:ext>
            </a:extLst>
          </p:cNvPr>
          <p:cNvSpPr txBox="1"/>
          <p:nvPr/>
        </p:nvSpPr>
        <p:spPr>
          <a:xfrm>
            <a:off x="584200" y="431800"/>
            <a:ext cx="10795000" cy="446276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2300" b="1">
                <a:solidFill>
                  <a:srgbClr val="142432"/>
                </a:solidFill>
                <a:latin typeface="Aptos Display" panose="020B0004020202020204" pitchFamily="34" charset="0"/>
              </a:rPr>
              <a:t>Conclusion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2EE451B-4A21-2E94-FB8D-9F8A508655CF}"/>
              </a:ext>
            </a:extLst>
          </p:cNvPr>
          <p:cNvSpPr txBox="1"/>
          <p:nvPr/>
        </p:nvSpPr>
        <p:spPr>
          <a:xfrm>
            <a:off x="609600" y="1041400"/>
            <a:ext cx="10414000" cy="26161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Recognition is only valuable when it becomes trustworthy workflow data.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7D4A909-FE27-D2D5-E06B-BAF135B3DB10}"/>
              </a:ext>
            </a:extLst>
          </p:cNvPr>
          <p:cNvSpPr txBox="1"/>
          <p:nvPr/>
        </p:nvSpPr>
        <p:spPr>
          <a:xfrm>
            <a:off x="1079500" y="1841500"/>
            <a:ext cx="10033000" cy="553998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3000" b="1">
                <a:solidFill>
                  <a:srgbClr val="142432"/>
                </a:solidFill>
                <a:latin typeface="Aptos Display" panose="020B0004020202020204" pitchFamily="34" charset="0"/>
              </a:rPr>
              <a:t>Recognition is only the first step.</a:t>
            </a: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08D5B3D-8B43-E6DA-86CE-8DACEAEF1AA2}"/>
              </a:ext>
            </a:extLst>
          </p:cNvPr>
          <p:cNvSpPr/>
          <p:nvPr/>
        </p:nvSpPr>
        <p:spPr>
          <a:xfrm>
            <a:off x="1206500" y="311150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07CBF9C-4C98-D2F6-79AD-8308DCB3F34C}"/>
              </a:ext>
            </a:extLst>
          </p:cNvPr>
          <p:cNvSpPr/>
          <p:nvPr/>
        </p:nvSpPr>
        <p:spPr>
          <a:xfrm>
            <a:off x="1206500" y="3111500"/>
            <a:ext cx="88900" cy="1333500"/>
          </a:xfrm>
          <a:prstGeom prst="rect">
            <a:avLst/>
          </a:prstGeom>
          <a:solidFill>
            <a:srgbClr val="2DAB7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B9AA63-E689-8D73-9C6B-61E37A4007BC}"/>
              </a:ext>
            </a:extLst>
          </p:cNvPr>
          <p:cNvSpPr txBox="1"/>
          <p:nvPr/>
        </p:nvSpPr>
        <p:spPr>
          <a:xfrm>
            <a:off x="1435100" y="3263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Workflow integration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3F487F4-3AD2-4D9F-605B-1BDF1371CCA5}"/>
              </a:ext>
            </a:extLst>
          </p:cNvPr>
          <p:cNvSpPr txBox="1"/>
          <p:nvPr/>
        </p:nvSpPr>
        <p:spPr>
          <a:xfrm>
            <a:off x="1435100" y="3644900"/>
            <a:ext cx="2540000" cy="600164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The result becomes useful through vehicle cases, parking, insurance, audit and reports.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D7C6D69E-4314-39D2-30F1-5EF70E58D6FF}"/>
              </a:ext>
            </a:extLst>
          </p:cNvPr>
          <p:cNvSpPr/>
          <p:nvPr/>
        </p:nvSpPr>
        <p:spPr>
          <a:xfrm>
            <a:off x="4635500" y="311150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7F5792A-A2D3-34F8-DC9F-A9B81989CEE2}"/>
              </a:ext>
            </a:extLst>
          </p:cNvPr>
          <p:cNvSpPr/>
          <p:nvPr/>
        </p:nvSpPr>
        <p:spPr>
          <a:xfrm>
            <a:off x="4635500" y="3111500"/>
            <a:ext cx="88900" cy="1333500"/>
          </a:xfrm>
          <a:prstGeom prst="rect">
            <a:avLst/>
          </a:prstGeom>
          <a:solidFill>
            <a:srgbClr val="1675B5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89F32DD-CB02-402C-0C86-7B183A30A80A}"/>
              </a:ext>
            </a:extLst>
          </p:cNvPr>
          <p:cNvSpPr txBox="1"/>
          <p:nvPr/>
        </p:nvSpPr>
        <p:spPr>
          <a:xfrm>
            <a:off x="4864100" y="3263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Human and backend control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C4F2094-7BAC-5BD7-6B12-7D849388A64A}"/>
              </a:ext>
            </a:extLst>
          </p:cNvPr>
          <p:cNvSpPr txBox="1"/>
          <p:nvPr/>
        </p:nvSpPr>
        <p:spPr>
          <a:xfrm>
            <a:off x="4864100" y="3644900"/>
            <a:ext cx="254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Backend rules and review workflows keep the system predictable.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690BB3D4-A09A-9D64-950C-B02A9DC10EFD}"/>
              </a:ext>
            </a:extLst>
          </p:cNvPr>
          <p:cNvSpPr/>
          <p:nvPr/>
        </p:nvSpPr>
        <p:spPr>
          <a:xfrm>
            <a:off x="8064500" y="3111500"/>
            <a:ext cx="2921000" cy="13335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AE4E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CB81EA8B-F473-A89D-4700-640893E45E3E}"/>
              </a:ext>
            </a:extLst>
          </p:cNvPr>
          <p:cNvSpPr/>
          <p:nvPr/>
        </p:nvSpPr>
        <p:spPr>
          <a:xfrm>
            <a:off x="8064500" y="3111500"/>
            <a:ext cx="88900" cy="1333500"/>
          </a:xfrm>
          <a:prstGeom prst="rect">
            <a:avLst/>
          </a:prstGeom>
          <a:solidFill>
            <a:srgbClr val="1BB8D6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F7475C9-8695-B292-29A1-5E4CE305EB7F}"/>
              </a:ext>
            </a:extLst>
          </p:cNvPr>
          <p:cNvSpPr txBox="1"/>
          <p:nvPr/>
        </p:nvSpPr>
        <p:spPr>
          <a:xfrm>
            <a:off x="8293100" y="3263900"/>
            <a:ext cx="2540000" cy="30008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350" b="1">
                <a:solidFill>
                  <a:srgbClr val="142432"/>
                </a:solidFill>
                <a:latin typeface="Aptos" panose="020B0004020202020204" pitchFamily="34" charset="0"/>
              </a:rPr>
              <a:t>AI as assistance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0AEEFFC-9CEA-DA01-9BC0-9914DDF3BE13}"/>
              </a:ext>
            </a:extLst>
          </p:cNvPr>
          <p:cNvSpPr txBox="1"/>
          <p:nvPr/>
        </p:nvSpPr>
        <p:spPr>
          <a:xfrm>
            <a:off x="8293100" y="3644900"/>
            <a:ext cx="2540000" cy="430887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GB" sz="1100">
                <a:solidFill>
                  <a:srgbClr val="5A6C7C"/>
                </a:solidFill>
                <a:latin typeface="Aptos" panose="020B0004020202020204" pitchFamily="34" charset="0"/>
              </a:rPr>
              <a:t>AI improves navigation and context without replacing application logic.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9BB0E3F-7907-A1B0-168E-D7D317875245}"/>
              </a:ext>
            </a:extLst>
          </p:cNvPr>
          <p:cNvSpPr txBox="1"/>
          <p:nvPr/>
        </p:nvSpPr>
        <p:spPr>
          <a:xfrm>
            <a:off x="1651000" y="5270500"/>
            <a:ext cx="8890000" cy="76944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n-GB" sz="2200" b="1">
                <a:solidFill>
                  <a:srgbClr val="1675B5"/>
                </a:solidFill>
                <a:latin typeface="Aptos Display" panose="020B0004020202020204" pitchFamily="34" charset="0"/>
              </a:rPr>
              <a:t>ALPRo turns computer vision output into operational traffic-service software.</a:t>
            </a:r>
          </a:p>
        </p:txBody>
      </p:sp>
    </p:spTree>
    <p:extLst>
      <p:ext uri="{BB962C8B-B14F-4D97-AF65-F5344CB8AC3E}">
        <p14:creationId xmlns:p14="http://schemas.microsoft.com/office/powerpoint/2010/main" val="41079042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96</TotalTime>
  <Words>774</Words>
  <Application>Microsoft Office PowerPoint</Application>
  <PresentationFormat>Widescreen</PresentationFormat>
  <Paragraphs>144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Aptos</vt:lpstr>
      <vt:lpstr>Aptos Display</vt:lpstr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Rares Stefan Jitariu</dc:creator>
  <cp:lastModifiedBy>Rares Stefan Jitariu</cp:lastModifiedBy>
  <cp:revision>5</cp:revision>
  <dcterms:created xsi:type="dcterms:W3CDTF">2026-06-30T20:01:29Z</dcterms:created>
  <dcterms:modified xsi:type="dcterms:W3CDTF">2026-07-01T10:56:07Z</dcterms:modified>
</cp:coreProperties>
</file>